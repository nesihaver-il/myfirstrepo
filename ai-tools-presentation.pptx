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hat.openai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emini.google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istudio.google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laude.ai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otebooklm.google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"/>
          </a:xfrm>
          <a:prstGeom prst="rect">
            <a:avLst/>
          </a:prstGeom>
          <a:solidFill>
            <a:srgbClr val="7B5E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10360152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Calibri"/>
              </a:rPr>
              <a:t>AI Tools Showcase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697480"/>
            <a:ext cx="94457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888BB"/>
                </a:solidFill>
                <a:latin typeface="Calibri"/>
              </a:rPr>
              <a:t>An interactive overview of the most powerful AI tools available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1" y="3840480"/>
            <a:ext cx="1965960" cy="475488"/>
          </a:xfrm>
          <a:prstGeom prst="rect">
            <a:avLst/>
          </a:prstGeom>
          <a:solidFill>
            <a:srgbClr val="14142A"/>
          </a:solidFill>
          <a:ln w="19050">
            <a:solidFill>
              <a:srgbClr val="10A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1" y="3895344"/>
            <a:ext cx="19659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0A37F"/>
                </a:solidFill>
                <a:latin typeface="Calibri"/>
              </a:rPr>
              <a:t>🤖  ChatGPT</a:t>
            </a:r>
          </a:p>
        </p:txBody>
      </p:sp>
      <p:sp>
        <p:nvSpPr>
          <p:cNvPr id="7" name="Rectangle 6"/>
          <p:cNvSpPr/>
          <p:nvPr/>
        </p:nvSpPr>
        <p:spPr>
          <a:xfrm>
            <a:off x="2889503" y="3840480"/>
            <a:ext cx="1965960" cy="475488"/>
          </a:xfrm>
          <a:prstGeom prst="rect">
            <a:avLst/>
          </a:prstGeom>
          <a:solidFill>
            <a:srgbClr val="14142A"/>
          </a:solidFill>
          <a:ln w="1905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9503" y="3895344"/>
            <a:ext cx="19659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4285F4"/>
                </a:solidFill>
                <a:latin typeface="Calibri"/>
              </a:rPr>
              <a:t>✨  Gemini</a:t>
            </a:r>
          </a:p>
        </p:txBody>
      </p:sp>
      <p:sp>
        <p:nvSpPr>
          <p:cNvPr id="9" name="Rectangle 8"/>
          <p:cNvSpPr/>
          <p:nvPr/>
        </p:nvSpPr>
        <p:spPr>
          <a:xfrm>
            <a:off x="5111495" y="3840480"/>
            <a:ext cx="1965960" cy="475488"/>
          </a:xfrm>
          <a:prstGeom prst="rect">
            <a:avLst/>
          </a:prstGeom>
          <a:solidFill>
            <a:srgbClr val="14142A"/>
          </a:solidFill>
          <a:ln w="19050">
            <a:solidFill>
              <a:srgbClr val="FFA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11495" y="3895344"/>
            <a:ext cx="19659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A726"/>
                </a:solidFill>
                <a:latin typeface="Calibri"/>
              </a:rPr>
              <a:t>🍌  Nano Banana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33488" y="3840480"/>
            <a:ext cx="1965960" cy="475488"/>
          </a:xfrm>
          <a:prstGeom prst="rect">
            <a:avLst/>
          </a:prstGeom>
          <a:solidFill>
            <a:srgbClr val="14142A"/>
          </a:solidFill>
          <a:ln w="19050">
            <a:solidFill>
              <a:srgbClr val="CC7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33488" y="3895344"/>
            <a:ext cx="19659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CC785C"/>
                </a:solidFill>
                <a:latin typeface="Calibri"/>
              </a:rPr>
              <a:t>🔮  Claude Chat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555480" y="3840480"/>
            <a:ext cx="1965960" cy="475488"/>
          </a:xfrm>
          <a:prstGeom prst="rect">
            <a:avLst/>
          </a:prstGeom>
          <a:solidFill>
            <a:srgbClr val="14142A"/>
          </a:solidFill>
          <a:ln w="1905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55480" y="3895344"/>
            <a:ext cx="19659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EA4335"/>
                </a:solidFill>
                <a:latin typeface="Calibri"/>
              </a:rPr>
              <a:t>📔  NotebookLM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0" y="6400800"/>
            <a:ext cx="1218895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444466"/>
                </a:solidFill>
                <a:latin typeface="Calibri"/>
              </a:rPr>
              <a:t>Use ← → arrow keys to navigate between slides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64592"/>
            <a:ext cx="868680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600" b="0">
                <a:solidFill>
                  <a:srgbClr val="FFFFFF"/>
                </a:solidFill>
                <a:latin typeface="Calibri"/>
              </a:rPr>
              <a:t>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98448" y="164592"/>
            <a:ext cx="7498079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ChatGPT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896112"/>
            <a:ext cx="8046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8888AA"/>
                </a:solidFill>
                <a:latin typeface="Calibri"/>
              </a:rPr>
              <a:t>by OpenAI — The world's most popular AI assistant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0" y="256032"/>
            <a:ext cx="2651760" cy="530352"/>
          </a:xfrm>
          <a:prstGeom prst="rect">
            <a:avLst/>
          </a:prstGeom>
          <a:solidFill>
            <a:srgbClr val="1A1A35"/>
          </a:solidFill>
          <a:ln w="19050">
            <a:solidFill>
              <a:srgbClr val="10A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0A37F"/>
                </a:solidFill>
                <a:latin typeface="Calibri"/>
                <a:hlinkClick r:id="rId2"/>
              </a:rPr>
              <a:t>Open ChatGPT 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435608"/>
            <a:ext cx="11494008" cy="20116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472" y="1554480"/>
            <a:ext cx="2152497" cy="5102352"/>
          </a:xfrm>
          <a:prstGeom prst="rect">
            <a:avLst/>
          </a:prstGeom>
          <a:solidFill>
            <a:srgbClr val="12122A"/>
          </a:solidFill>
          <a:ln w="12700">
            <a:solidFill>
              <a:srgbClr val="25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1554480"/>
            <a:ext cx="2152497" cy="50292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645920"/>
            <a:ext cx="189646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10A37F"/>
                </a:solidFill>
                <a:latin typeface="Calibri"/>
              </a:rPr>
              <a:t>PROJECTS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938528"/>
            <a:ext cx="189646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Calibri"/>
              </a:rPr>
              <a:t>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2542032"/>
            <a:ext cx="189646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EEEFF"/>
                </a:solidFill>
                <a:latin typeface="Calibri"/>
              </a:rPr>
              <a:t>Projects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3200400"/>
            <a:ext cx="1896465" cy="3319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CC"/>
                </a:solidFill>
                <a:latin typeface="Calibri"/>
              </a:rPr>
              <a:t>Organize chats, files and custom instructions into persistent workspaces. Context is always saved.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82849" y="1554480"/>
            <a:ext cx="2152497" cy="5102352"/>
          </a:xfrm>
          <a:prstGeom prst="rect">
            <a:avLst/>
          </a:prstGeom>
          <a:solidFill>
            <a:srgbClr val="12122A"/>
          </a:solidFill>
          <a:ln w="12700">
            <a:solidFill>
              <a:srgbClr val="25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82849" y="1554480"/>
            <a:ext cx="2152497" cy="50292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10865" y="1645920"/>
            <a:ext cx="189646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10A37F"/>
                </a:solidFill>
                <a:latin typeface="Calibri"/>
              </a:rPr>
              <a:t>CUSTOM GPTS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10865" y="1938528"/>
            <a:ext cx="189646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10865" y="2542032"/>
            <a:ext cx="189646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EEEFF"/>
                </a:solidFill>
                <a:latin typeface="Calibri"/>
              </a:rPr>
              <a:t>Custom GPTs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10865" y="3200400"/>
            <a:ext cx="1896465" cy="3319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CC"/>
                </a:solidFill>
                <a:latin typeface="Calibri"/>
              </a:rPr>
              <a:t>Build your own AI assistant with a tailored personality, private knowledge base, and integrated tools.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18227" y="1554480"/>
            <a:ext cx="2152497" cy="5102352"/>
          </a:xfrm>
          <a:prstGeom prst="rect">
            <a:avLst/>
          </a:prstGeom>
          <a:solidFill>
            <a:srgbClr val="12122A"/>
          </a:solidFill>
          <a:ln w="12700">
            <a:solidFill>
              <a:srgbClr val="25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18227" y="1554480"/>
            <a:ext cx="2152497" cy="50292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46243" y="1645920"/>
            <a:ext cx="189646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10A37F"/>
                </a:solidFill>
                <a:latin typeface="Calibri"/>
              </a:rPr>
              <a:t>DALL·E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6243" y="1938528"/>
            <a:ext cx="189646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Calibri"/>
              </a:rPr>
              <a:t>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46243" y="2542032"/>
            <a:ext cx="189646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EEEFF"/>
                </a:solidFill>
                <a:latin typeface="Calibri"/>
              </a:rPr>
              <a:t>DALL·E Image Gen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46243" y="3200400"/>
            <a:ext cx="1896465" cy="3319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CC"/>
                </a:solidFill>
                <a:latin typeface="Calibri"/>
              </a:rPr>
              <a:t>Generate high-quality images from text descriptions directly inside the chat. No extra app needed.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53604" y="1554480"/>
            <a:ext cx="2152497" cy="5102352"/>
          </a:xfrm>
          <a:prstGeom prst="rect">
            <a:avLst/>
          </a:prstGeom>
          <a:solidFill>
            <a:srgbClr val="12122A"/>
          </a:solidFill>
          <a:ln w="12700">
            <a:solidFill>
              <a:srgbClr val="25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53604" y="1554480"/>
            <a:ext cx="2152497" cy="50292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81620" y="1645920"/>
            <a:ext cx="189646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10A37F"/>
                </a:solidFill>
                <a:latin typeface="Calibri"/>
              </a:rPr>
              <a:t>DATA ANALYSIS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81620" y="1938528"/>
            <a:ext cx="189646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81620" y="2542032"/>
            <a:ext cx="189646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EEEFF"/>
                </a:solidFill>
                <a:latin typeface="Calibri"/>
              </a:rPr>
              <a:t>Data Analysis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81620" y="3200400"/>
            <a:ext cx="1896465" cy="3319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CC"/>
                </a:solidFill>
                <a:latin typeface="Calibri"/>
              </a:rPr>
              <a:t>Upload files, run Python, generate charts. Turn raw data into clear insights on demand.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88982" y="1554480"/>
            <a:ext cx="2152497" cy="5102352"/>
          </a:xfrm>
          <a:prstGeom prst="rect">
            <a:avLst/>
          </a:prstGeom>
          <a:solidFill>
            <a:srgbClr val="12122A"/>
          </a:solidFill>
          <a:ln w="12700">
            <a:solidFill>
              <a:srgbClr val="25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8982" y="1554480"/>
            <a:ext cx="2152497" cy="50292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16998" y="1645920"/>
            <a:ext cx="189646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10A37F"/>
                </a:solidFill>
                <a:latin typeface="Calibri"/>
              </a:rPr>
              <a:t>MEMORY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16998" y="1938528"/>
            <a:ext cx="189646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Calibri"/>
              </a:rPr>
              <a:t>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16998" y="2542032"/>
            <a:ext cx="189646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EEEFF"/>
                </a:solidFill>
                <a:latin typeface="Calibri"/>
              </a:rPr>
              <a:t>Memory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16998" y="3200400"/>
            <a:ext cx="1896465" cy="3319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CC"/>
                </a:solidFill>
                <a:latin typeface="Calibri"/>
              </a:rPr>
              <a:t>ChatGPT remembers your preferences and key facts across all conversations automatically.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64592"/>
            <a:ext cx="868680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600" b="0">
                <a:solidFill>
                  <a:srgbClr val="FFFFFF"/>
                </a:solidFill>
                <a:latin typeface="Calibri"/>
              </a:rPr>
              <a:t>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98448" y="164592"/>
            <a:ext cx="7498079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Gemini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896112"/>
            <a:ext cx="8046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8888AA"/>
                </a:solidFill>
                <a:latin typeface="Calibri"/>
              </a:rPr>
              <a:t>by Google — AI deeply integrated with Google's ecosystem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0" y="256032"/>
            <a:ext cx="2651760" cy="530352"/>
          </a:xfrm>
          <a:prstGeom prst="rect">
            <a:avLst/>
          </a:prstGeom>
          <a:solidFill>
            <a:srgbClr val="1A1A35"/>
          </a:solidFill>
          <a:ln w="1905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4285F4"/>
                </a:solidFill>
                <a:latin typeface="Calibri"/>
                <a:hlinkClick r:id="rId2"/>
              </a:rPr>
              <a:t>Open Gemini 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435608"/>
            <a:ext cx="11494008" cy="20116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472" y="1554480"/>
            <a:ext cx="2152497" cy="5102352"/>
          </a:xfrm>
          <a:prstGeom prst="rect">
            <a:avLst/>
          </a:prstGeom>
          <a:solidFill>
            <a:srgbClr val="12122A"/>
          </a:solidFill>
          <a:ln w="12700">
            <a:solidFill>
              <a:srgbClr val="25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1554480"/>
            <a:ext cx="2152497" cy="50292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645920"/>
            <a:ext cx="189646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4285F4"/>
                </a:solidFill>
                <a:latin typeface="Calibri"/>
              </a:rPr>
              <a:t>GEMS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938528"/>
            <a:ext cx="189646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Calibri"/>
              </a:rPr>
              <a:t>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2542032"/>
            <a:ext cx="189646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EEEFF"/>
                </a:solidFill>
                <a:latin typeface="Calibri"/>
              </a:rPr>
              <a:t>Gems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3200400"/>
            <a:ext cx="1896465" cy="3319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CC"/>
                </a:solidFill>
                <a:latin typeface="Calibri"/>
              </a:rPr>
              <a:t>Create custom AI personas with specific instructions and knowledge — Google's take on Custom GPTs.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82849" y="1554480"/>
            <a:ext cx="2152497" cy="5102352"/>
          </a:xfrm>
          <a:prstGeom prst="rect">
            <a:avLst/>
          </a:prstGeom>
          <a:solidFill>
            <a:srgbClr val="12122A"/>
          </a:solidFill>
          <a:ln w="12700">
            <a:solidFill>
              <a:srgbClr val="25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82849" y="1554480"/>
            <a:ext cx="2152497" cy="50292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10865" y="1645920"/>
            <a:ext cx="189646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4285F4"/>
                </a:solidFill>
                <a:latin typeface="Calibri"/>
              </a:rPr>
              <a:t>DEEP RESEARCH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10865" y="1938528"/>
            <a:ext cx="189646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Calibri"/>
              </a:rPr>
              <a:t>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10865" y="2542032"/>
            <a:ext cx="189646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EEEFF"/>
                </a:solidFill>
                <a:latin typeface="Calibri"/>
              </a:rPr>
              <a:t>Deep 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10865" y="3200400"/>
            <a:ext cx="1896465" cy="3319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CC"/>
                </a:solidFill>
                <a:latin typeface="Calibri"/>
              </a:rPr>
              <a:t>Generate comprehensive multi-source research reports with structured findings and full citations.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18227" y="1554480"/>
            <a:ext cx="2152497" cy="5102352"/>
          </a:xfrm>
          <a:prstGeom prst="rect">
            <a:avLst/>
          </a:prstGeom>
          <a:solidFill>
            <a:srgbClr val="12122A"/>
          </a:solidFill>
          <a:ln w="12700">
            <a:solidFill>
              <a:srgbClr val="25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18227" y="1554480"/>
            <a:ext cx="2152497" cy="50292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46243" y="1645920"/>
            <a:ext cx="189646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4285F4"/>
                </a:solidFill>
                <a:latin typeface="Calibri"/>
              </a:rPr>
              <a:t>WORKSPACE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6243" y="1938528"/>
            <a:ext cx="189646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Calibri"/>
              </a:rPr>
              <a:t>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46243" y="2542032"/>
            <a:ext cx="189646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EEEFF"/>
                </a:solidFill>
                <a:latin typeface="Calibri"/>
              </a:rPr>
              <a:t>Workspace Integration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46243" y="3200400"/>
            <a:ext cx="1896465" cy="3319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CC"/>
                </a:solidFill>
                <a:latin typeface="Calibri"/>
              </a:rPr>
              <a:t>Works natively inside Gmail, Docs, Sheets, and Drive — AI right where your team already works.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53604" y="1554480"/>
            <a:ext cx="2152497" cy="5102352"/>
          </a:xfrm>
          <a:prstGeom prst="rect">
            <a:avLst/>
          </a:prstGeom>
          <a:solidFill>
            <a:srgbClr val="12122A"/>
          </a:solidFill>
          <a:ln w="12700">
            <a:solidFill>
              <a:srgbClr val="25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53604" y="1554480"/>
            <a:ext cx="2152497" cy="50292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81620" y="1645920"/>
            <a:ext cx="189646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4285F4"/>
                </a:solidFill>
                <a:latin typeface="Calibri"/>
              </a:rPr>
              <a:t>GEMINI LIVE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81620" y="1938528"/>
            <a:ext cx="189646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Calibri"/>
              </a:rPr>
              <a:t>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81620" y="2542032"/>
            <a:ext cx="189646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EEEFF"/>
                </a:solidFill>
                <a:latin typeface="Calibri"/>
              </a:rPr>
              <a:t>Gemini Live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81620" y="3200400"/>
            <a:ext cx="1896465" cy="3319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CC"/>
                </a:solidFill>
                <a:latin typeface="Calibri"/>
              </a:rPr>
              <a:t>Real-time voice &amp; video conversations with visual understanding. Show your screen, ask questions live.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88982" y="1554480"/>
            <a:ext cx="2152497" cy="5102352"/>
          </a:xfrm>
          <a:prstGeom prst="rect">
            <a:avLst/>
          </a:prstGeom>
          <a:solidFill>
            <a:srgbClr val="12122A"/>
          </a:solidFill>
          <a:ln w="12700">
            <a:solidFill>
              <a:srgbClr val="25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8982" y="1554480"/>
            <a:ext cx="2152497" cy="50292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16998" y="1645920"/>
            <a:ext cx="189646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4285F4"/>
                </a:solidFill>
                <a:latin typeface="Calibri"/>
              </a:rPr>
              <a:t>1M CONTEXT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16998" y="1938528"/>
            <a:ext cx="189646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Calibri"/>
              </a:rPr>
              <a:t>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16998" y="2542032"/>
            <a:ext cx="189646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EEEFF"/>
                </a:solidFill>
                <a:latin typeface="Calibri"/>
              </a:rPr>
              <a:t>1M Token Context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16998" y="3200400"/>
            <a:ext cx="1896465" cy="3319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CC"/>
                </a:solidFill>
                <a:latin typeface="Calibri"/>
              </a:rPr>
              <a:t>Analyze entire books, codebases, or long videos in one conversation. Unmatched context window.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64592"/>
            <a:ext cx="868680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600" b="0">
                <a:solidFill>
                  <a:srgbClr val="FFFFFF"/>
                </a:solidFill>
                <a:latin typeface="Calibri"/>
              </a:rPr>
              <a:t>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98448" y="164592"/>
            <a:ext cx="7498079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Nano Banana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896112"/>
            <a:ext cx="8046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8888AA"/>
                </a:solidFill>
                <a:latin typeface="Calibri"/>
              </a:rPr>
              <a:t>Powered by Gemini 3 Pro — Professional AI Image Generation via API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0" y="256032"/>
            <a:ext cx="2651760" cy="530352"/>
          </a:xfrm>
          <a:prstGeom prst="rect">
            <a:avLst/>
          </a:prstGeom>
          <a:solidFill>
            <a:srgbClr val="1A1A35"/>
          </a:solidFill>
          <a:ln w="19050">
            <a:solidFill>
              <a:srgbClr val="FFA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A726"/>
                </a:solidFill>
                <a:latin typeface="Calibri"/>
                <a:hlinkClick r:id="rId2"/>
              </a:rPr>
              <a:t>Open Nano Banana 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435608"/>
            <a:ext cx="11494008" cy="20116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472" y="1554480"/>
            <a:ext cx="2152497" cy="5102352"/>
          </a:xfrm>
          <a:prstGeom prst="rect">
            <a:avLst/>
          </a:prstGeom>
          <a:solidFill>
            <a:srgbClr val="12122A"/>
          </a:solidFill>
          <a:ln w="12700">
            <a:solidFill>
              <a:srgbClr val="25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1554480"/>
            <a:ext cx="2152497" cy="50292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645920"/>
            <a:ext cx="189646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A726"/>
                </a:solidFill>
                <a:latin typeface="Calibri"/>
              </a:rPr>
              <a:t>TEXT-TO-IMAGE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938528"/>
            <a:ext cx="189646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Calibri"/>
              </a:rPr>
              <a:t>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2542032"/>
            <a:ext cx="189646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EEEFF"/>
                </a:solidFill>
                <a:latin typeface="Calibri"/>
              </a:rPr>
              <a:t>Text-to-Image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3200400"/>
            <a:ext cx="1896465" cy="3319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CC"/>
                </a:solidFill>
                <a:latin typeface="Calibri"/>
              </a:rPr>
              <a:t>Turn plain text descriptions into stunning, high-quality images using Google's Gemini 3 Pro model.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82849" y="1554480"/>
            <a:ext cx="2152497" cy="5102352"/>
          </a:xfrm>
          <a:prstGeom prst="rect">
            <a:avLst/>
          </a:prstGeom>
          <a:solidFill>
            <a:srgbClr val="12122A"/>
          </a:solidFill>
          <a:ln w="12700">
            <a:solidFill>
              <a:srgbClr val="25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82849" y="1554480"/>
            <a:ext cx="2152497" cy="50292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10865" y="1645920"/>
            <a:ext cx="189646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A726"/>
                </a:solidFill>
                <a:latin typeface="Calibri"/>
              </a:rPr>
              <a:t>TEXT IN IMAGES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10865" y="1938528"/>
            <a:ext cx="189646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Calibri"/>
              </a:rPr>
              <a:t>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10865" y="2542032"/>
            <a:ext cx="189646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EEEFF"/>
                </a:solidFill>
                <a:latin typeface="Calibri"/>
              </a:rPr>
              <a:t>Text in Images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10865" y="3200400"/>
            <a:ext cx="1896465" cy="3319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CC"/>
                </a:solidFill>
                <a:latin typeface="Calibri"/>
              </a:rPr>
              <a:t>Accurately render readable text inside generated visuals — a long-standing AI challenge, now solved.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18227" y="1554480"/>
            <a:ext cx="2152497" cy="5102352"/>
          </a:xfrm>
          <a:prstGeom prst="rect">
            <a:avLst/>
          </a:prstGeom>
          <a:solidFill>
            <a:srgbClr val="12122A"/>
          </a:solidFill>
          <a:ln w="12700">
            <a:solidFill>
              <a:srgbClr val="25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18227" y="1554480"/>
            <a:ext cx="2152497" cy="50292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46243" y="1645920"/>
            <a:ext cx="189646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A726"/>
                </a:solidFill>
                <a:latin typeface="Calibri"/>
              </a:rPr>
              <a:t>CONSISTENCY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6243" y="1938528"/>
            <a:ext cx="189646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Calibri"/>
              </a:rPr>
              <a:t>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46243" y="2542032"/>
            <a:ext cx="189646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EEEFF"/>
                </a:solidFill>
                <a:latin typeface="Calibri"/>
              </a:rPr>
              <a:t>Character Consistency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46243" y="3200400"/>
            <a:ext cx="1896465" cy="3319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CC"/>
                </a:solidFill>
                <a:latin typeface="Calibri"/>
              </a:rPr>
              <a:t>Keep the same character or subject consistent across up to 5 related generated images in a series.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53604" y="1554480"/>
            <a:ext cx="2152497" cy="5102352"/>
          </a:xfrm>
          <a:prstGeom prst="rect">
            <a:avLst/>
          </a:prstGeom>
          <a:solidFill>
            <a:srgbClr val="12122A"/>
          </a:solidFill>
          <a:ln w="12700">
            <a:solidFill>
              <a:srgbClr val="25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53604" y="1554480"/>
            <a:ext cx="2152497" cy="50292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81620" y="1645920"/>
            <a:ext cx="189646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A726"/>
                </a:solidFill>
                <a:latin typeface="Calibri"/>
              </a:rPr>
              <a:t>ITERATIVE EDIT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81620" y="1938528"/>
            <a:ext cx="189646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Calibri"/>
              </a:rPr>
              <a:t>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81620" y="2542032"/>
            <a:ext cx="189646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EEEFF"/>
                </a:solidFill>
                <a:latin typeface="Calibri"/>
              </a:rPr>
              <a:t>Iterative Editing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81620" y="3200400"/>
            <a:ext cx="1896465" cy="3319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CC"/>
                </a:solidFill>
                <a:latin typeface="Calibri"/>
              </a:rPr>
              <a:t>Refine via conversation: "add more light", "change the background" — no re-prompting from scratch.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88982" y="1554480"/>
            <a:ext cx="2152497" cy="5102352"/>
          </a:xfrm>
          <a:prstGeom prst="rect">
            <a:avLst/>
          </a:prstGeom>
          <a:solidFill>
            <a:srgbClr val="12122A"/>
          </a:solidFill>
          <a:ln w="12700">
            <a:solidFill>
              <a:srgbClr val="25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8982" y="1554480"/>
            <a:ext cx="2152497" cy="50292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16998" y="1645920"/>
            <a:ext cx="189646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A726"/>
                </a:solidFill>
                <a:latin typeface="Calibri"/>
              </a:rPr>
              <a:t>4K OUTPUT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16998" y="1938528"/>
            <a:ext cx="189646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Calibri"/>
              </a:rPr>
              <a:t>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16998" y="2542032"/>
            <a:ext cx="189646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EEEFF"/>
                </a:solidFill>
                <a:latin typeface="Calibri"/>
              </a:rPr>
              <a:t>Multi-Ratio &amp; 4K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16998" y="3200400"/>
            <a:ext cx="1896465" cy="3319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CC"/>
                </a:solidFill>
                <a:latin typeface="Calibri"/>
              </a:rPr>
              <a:t>5 aspect ratios (1:1 to 21:9) at up to 4K resolution — ready for web, print, or social media.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64592"/>
            <a:ext cx="868680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600" b="0">
                <a:solidFill>
                  <a:srgbClr val="FFFFFF"/>
                </a:solidFill>
                <a:latin typeface="Calibri"/>
              </a:rPr>
              <a:t>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98448" y="164592"/>
            <a:ext cx="7498079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Claude Chat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896112"/>
            <a:ext cx="8046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8888AA"/>
                </a:solidFill>
                <a:latin typeface="Calibri"/>
              </a:rPr>
              <a:t>by Anthropic — Thoughtful, nuanced AI for deep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0" y="256032"/>
            <a:ext cx="2651760" cy="530352"/>
          </a:xfrm>
          <a:prstGeom prst="rect">
            <a:avLst/>
          </a:prstGeom>
          <a:solidFill>
            <a:srgbClr val="1A1A35"/>
          </a:solidFill>
          <a:ln w="19050">
            <a:solidFill>
              <a:srgbClr val="CC7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CC785C"/>
                </a:solidFill>
                <a:latin typeface="Calibri"/>
                <a:hlinkClick r:id="rId2"/>
              </a:rPr>
              <a:t>Open Claude Chat 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435608"/>
            <a:ext cx="11494008" cy="20116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472" y="1554480"/>
            <a:ext cx="2152497" cy="5102352"/>
          </a:xfrm>
          <a:prstGeom prst="rect">
            <a:avLst/>
          </a:prstGeom>
          <a:solidFill>
            <a:srgbClr val="12122A"/>
          </a:solidFill>
          <a:ln w="12700">
            <a:solidFill>
              <a:srgbClr val="25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1554480"/>
            <a:ext cx="2152497" cy="50292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645920"/>
            <a:ext cx="189646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CC785C"/>
                </a:solidFill>
                <a:latin typeface="Calibri"/>
              </a:rPr>
              <a:t>PROJECTS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938528"/>
            <a:ext cx="189646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Calibri"/>
              </a:rPr>
              <a:t>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2542032"/>
            <a:ext cx="189646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EEEFF"/>
                </a:solidFill>
                <a:latin typeface="Calibri"/>
              </a:rPr>
              <a:t>Projects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3200400"/>
            <a:ext cx="1896465" cy="3319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CC"/>
                </a:solidFill>
                <a:latin typeface="Calibri"/>
              </a:rPr>
              <a:t>Persistent workspaces with shared context, uploaded files, and a custom system prompt per project.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82849" y="1554480"/>
            <a:ext cx="2152497" cy="5102352"/>
          </a:xfrm>
          <a:prstGeom prst="rect">
            <a:avLst/>
          </a:prstGeom>
          <a:solidFill>
            <a:srgbClr val="12122A"/>
          </a:solidFill>
          <a:ln w="12700">
            <a:solidFill>
              <a:srgbClr val="25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82849" y="1554480"/>
            <a:ext cx="2152497" cy="50292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10865" y="1645920"/>
            <a:ext cx="189646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CC785C"/>
                </a:solidFill>
                <a:latin typeface="Calibri"/>
              </a:rPr>
              <a:t>ARTIFACTS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10865" y="1938528"/>
            <a:ext cx="189646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Calibri"/>
              </a:rPr>
              <a:t>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10865" y="2542032"/>
            <a:ext cx="189646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EEEFF"/>
                </a:solidFill>
                <a:latin typeface="Calibri"/>
              </a:rPr>
              <a:t>Artifacts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10865" y="3200400"/>
            <a:ext cx="1896465" cy="3319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CC"/>
                </a:solidFill>
                <a:latin typeface="Calibri"/>
              </a:rPr>
              <a:t>Generate live interactive apps, editable documents, and rich visualizations directly in the chat.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18227" y="1554480"/>
            <a:ext cx="2152497" cy="5102352"/>
          </a:xfrm>
          <a:prstGeom prst="rect">
            <a:avLst/>
          </a:prstGeom>
          <a:solidFill>
            <a:srgbClr val="12122A"/>
          </a:solidFill>
          <a:ln w="12700">
            <a:solidFill>
              <a:srgbClr val="25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18227" y="1554480"/>
            <a:ext cx="2152497" cy="50292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46243" y="1645920"/>
            <a:ext cx="189646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CC785C"/>
                </a:solidFill>
                <a:latin typeface="Calibri"/>
              </a:rPr>
              <a:t>EXT. THINKING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6243" y="1938528"/>
            <a:ext cx="189646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Calibri"/>
              </a:rPr>
              <a:t>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46243" y="2542032"/>
            <a:ext cx="189646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EEEFF"/>
                </a:solidFill>
                <a:latin typeface="Calibri"/>
              </a:rPr>
              <a:t>Extended Thinking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46243" y="3200400"/>
            <a:ext cx="1896465" cy="3319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CC"/>
                </a:solidFill>
                <a:latin typeface="Calibri"/>
              </a:rPr>
              <a:t>Claude reasons step-by-step through hard problems, showing its work before delivering the final answer.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53604" y="1554480"/>
            <a:ext cx="2152497" cy="5102352"/>
          </a:xfrm>
          <a:prstGeom prst="rect">
            <a:avLst/>
          </a:prstGeom>
          <a:solidFill>
            <a:srgbClr val="12122A"/>
          </a:solidFill>
          <a:ln w="12700">
            <a:solidFill>
              <a:srgbClr val="25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53604" y="1554480"/>
            <a:ext cx="2152497" cy="50292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81620" y="1645920"/>
            <a:ext cx="189646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CC785C"/>
                </a:solidFill>
                <a:latin typeface="Calibri"/>
              </a:rPr>
              <a:t>200K CONTEXT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81620" y="1938528"/>
            <a:ext cx="189646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Calibri"/>
              </a:rPr>
              <a:t>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81620" y="2542032"/>
            <a:ext cx="189646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EEEFF"/>
                </a:solidFill>
                <a:latin typeface="Calibri"/>
              </a:rPr>
              <a:t>200K Token Context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81620" y="3200400"/>
            <a:ext cx="1896465" cy="3319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CC"/>
                </a:solidFill>
                <a:latin typeface="Calibri"/>
              </a:rPr>
              <a:t>Process entire books or large codebases — ask nuanced questions across all the content at once.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88982" y="1554480"/>
            <a:ext cx="2152497" cy="5102352"/>
          </a:xfrm>
          <a:prstGeom prst="rect">
            <a:avLst/>
          </a:prstGeom>
          <a:solidFill>
            <a:srgbClr val="12122A"/>
          </a:solidFill>
          <a:ln w="12700">
            <a:solidFill>
              <a:srgbClr val="25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8982" y="1554480"/>
            <a:ext cx="2152497" cy="50292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16998" y="1645920"/>
            <a:ext cx="189646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CC785C"/>
                </a:solidFill>
                <a:latin typeface="Calibri"/>
              </a:rPr>
              <a:t>DOC ANALYSIS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16998" y="1938528"/>
            <a:ext cx="189646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Calibri"/>
              </a:rPr>
              <a:t>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16998" y="2542032"/>
            <a:ext cx="189646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EEEFF"/>
                </a:solidFill>
                <a:latin typeface="Calibri"/>
              </a:rPr>
              <a:t>Document Analysis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16998" y="3200400"/>
            <a:ext cx="1896465" cy="3319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CC"/>
                </a:solidFill>
                <a:latin typeface="Calibri"/>
              </a:rPr>
              <a:t>Upload PDFs, contracts, or research and get accurate, detailed analysis with clear source citations.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64592"/>
            <a:ext cx="868680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600" b="0">
                <a:solidFill>
                  <a:srgbClr val="FFFFFF"/>
                </a:solidFill>
                <a:latin typeface="Calibri"/>
              </a:rPr>
              <a:t>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98448" y="164592"/>
            <a:ext cx="7498079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NotebookLM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896112"/>
            <a:ext cx="8046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8888AA"/>
                </a:solidFill>
                <a:latin typeface="Calibri"/>
              </a:rPr>
              <a:t>by Google — AI grounded 100% in YOUR documents. Zero hallucinations.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0" y="256032"/>
            <a:ext cx="2651760" cy="530352"/>
          </a:xfrm>
          <a:prstGeom prst="rect">
            <a:avLst/>
          </a:prstGeom>
          <a:solidFill>
            <a:srgbClr val="1A1A35"/>
          </a:solidFill>
          <a:ln w="1905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EA4335"/>
                </a:solidFill>
                <a:latin typeface="Calibri"/>
                <a:hlinkClick r:id="rId2"/>
              </a:rPr>
              <a:t>Open NotebookLM 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435608"/>
            <a:ext cx="11494008" cy="20116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472" y="1554480"/>
            <a:ext cx="2152497" cy="5102352"/>
          </a:xfrm>
          <a:prstGeom prst="rect">
            <a:avLst/>
          </a:prstGeom>
          <a:solidFill>
            <a:srgbClr val="12122A"/>
          </a:solidFill>
          <a:ln w="12700">
            <a:solidFill>
              <a:srgbClr val="25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1554480"/>
            <a:ext cx="2152497" cy="50292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645920"/>
            <a:ext cx="189646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EA4335"/>
                </a:solidFill>
                <a:latin typeface="Calibri"/>
              </a:rPr>
              <a:t>AUDIO OVERVIEW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938528"/>
            <a:ext cx="189646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Calibri"/>
              </a:rPr>
              <a:t>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2542032"/>
            <a:ext cx="189646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EEEFF"/>
                </a:solidFill>
                <a:latin typeface="Calibri"/>
              </a:rPr>
              <a:t>Audio Overview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3200400"/>
            <a:ext cx="1896465" cy="3319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CC"/>
                </a:solidFill>
                <a:latin typeface="Calibri"/>
              </a:rPr>
              <a:t>One click turns your documents into a podcast with two AI hosts. Fully shareable audio summary.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82849" y="1554480"/>
            <a:ext cx="2152497" cy="5102352"/>
          </a:xfrm>
          <a:prstGeom prst="rect">
            <a:avLst/>
          </a:prstGeom>
          <a:solidFill>
            <a:srgbClr val="12122A"/>
          </a:solidFill>
          <a:ln w="12700">
            <a:solidFill>
              <a:srgbClr val="25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82849" y="1554480"/>
            <a:ext cx="2152497" cy="50292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10865" y="1645920"/>
            <a:ext cx="189646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EA4335"/>
                </a:solidFill>
                <a:latin typeface="Calibri"/>
              </a:rPr>
              <a:t>RESEARCH Q&amp;A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10865" y="1938528"/>
            <a:ext cx="189646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Calibri"/>
              </a:rPr>
              <a:t>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10865" y="2542032"/>
            <a:ext cx="189646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EEEFF"/>
                </a:solidFill>
                <a:latin typeface="Calibri"/>
              </a:rPr>
              <a:t>Research Q&amp;A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10865" y="3200400"/>
            <a:ext cx="1896465" cy="3319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CC"/>
                </a:solidFill>
                <a:latin typeface="Calibri"/>
              </a:rPr>
              <a:t>Answers grounded exclusively in your uploaded sources — cited, verified, zero hallucinations.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18227" y="1554480"/>
            <a:ext cx="2152497" cy="5102352"/>
          </a:xfrm>
          <a:prstGeom prst="rect">
            <a:avLst/>
          </a:prstGeom>
          <a:solidFill>
            <a:srgbClr val="12122A"/>
          </a:solidFill>
          <a:ln w="12700">
            <a:solidFill>
              <a:srgbClr val="25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18227" y="1554480"/>
            <a:ext cx="2152497" cy="50292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46243" y="1645920"/>
            <a:ext cx="189646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EA4335"/>
                </a:solidFill>
                <a:latin typeface="Calibri"/>
              </a:rPr>
              <a:t>MIND MAP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6243" y="1938528"/>
            <a:ext cx="189646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Calibri"/>
              </a:rPr>
              <a:t>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46243" y="2542032"/>
            <a:ext cx="189646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EEEFF"/>
                </a:solidFill>
                <a:latin typeface="Calibri"/>
              </a:rPr>
              <a:t>Mind Map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46243" y="3200400"/>
            <a:ext cx="1896465" cy="3319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CC"/>
                </a:solidFill>
                <a:latin typeface="Calibri"/>
              </a:rPr>
              <a:t>Auto-generated visual map of key concepts and connections across all your uploaded documents.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53604" y="1554480"/>
            <a:ext cx="2152497" cy="5102352"/>
          </a:xfrm>
          <a:prstGeom prst="rect">
            <a:avLst/>
          </a:prstGeom>
          <a:solidFill>
            <a:srgbClr val="12122A"/>
          </a:solidFill>
          <a:ln w="12700">
            <a:solidFill>
              <a:srgbClr val="25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53604" y="1554480"/>
            <a:ext cx="2152497" cy="50292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81620" y="1645920"/>
            <a:ext cx="189646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EA4335"/>
                </a:solidFill>
                <a:latin typeface="Calibri"/>
              </a:rPr>
              <a:t>STUDY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81620" y="1938528"/>
            <a:ext cx="189646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Calibri"/>
              </a:rPr>
              <a:t>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81620" y="2542032"/>
            <a:ext cx="189646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EEEFF"/>
                </a:solidFill>
                <a:latin typeface="Calibri"/>
              </a:rPr>
              <a:t>Study Guide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81620" y="3200400"/>
            <a:ext cx="1896465" cy="3319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CC"/>
                </a:solidFill>
                <a:latin typeface="Calibri"/>
              </a:rPr>
              <a:t>One click creates FAQs, summaries, timelines, and key concept lists from your source material.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88982" y="1554480"/>
            <a:ext cx="2152497" cy="5102352"/>
          </a:xfrm>
          <a:prstGeom prst="rect">
            <a:avLst/>
          </a:prstGeom>
          <a:solidFill>
            <a:srgbClr val="12122A"/>
          </a:solidFill>
          <a:ln w="12700">
            <a:solidFill>
              <a:srgbClr val="25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8982" y="1554480"/>
            <a:ext cx="2152497" cy="50292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16998" y="1645920"/>
            <a:ext cx="189646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EA4335"/>
                </a:solidFill>
                <a:latin typeface="Calibri"/>
              </a:rPr>
              <a:t>MULTI-SOURCE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16998" y="1938528"/>
            <a:ext cx="189646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Calibri"/>
              </a:rPr>
              <a:t>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16998" y="2542032"/>
            <a:ext cx="189646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EEEFF"/>
                </a:solidFill>
                <a:latin typeface="Calibri"/>
              </a:rPr>
              <a:t>Multi-Source Synthesis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16998" y="3200400"/>
            <a:ext cx="1896465" cy="3319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CC"/>
                </a:solidFill>
                <a:latin typeface="Calibri"/>
              </a:rPr>
              <a:t>Upload 50+ sources and discover cross-document insights — patterns across your entire corpus.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B5E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4552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Choose the Right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024128"/>
            <a:ext cx="94457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888AA"/>
                </a:solidFill>
                <a:latin typeface="Calibri"/>
              </a:rPr>
              <a:t>Each tool shines in different scenarios — use the best one for the job</a:t>
            </a:r>
          </a:p>
        </p:txBody>
      </p:sp>
      <p:sp>
        <p:nvSpPr>
          <p:cNvPr id="5" name="Rectangle 4"/>
          <p:cNvSpPr/>
          <p:nvPr/>
        </p:nvSpPr>
        <p:spPr>
          <a:xfrm>
            <a:off x="452628" y="1572768"/>
            <a:ext cx="3566160" cy="1874519"/>
          </a:xfrm>
          <a:prstGeom prst="rect">
            <a:avLst/>
          </a:prstGeom>
          <a:solidFill>
            <a:srgbClr val="12122A"/>
          </a:solidFill>
          <a:ln w="19050">
            <a:solidFill>
              <a:srgbClr val="10A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2628" y="1572768"/>
            <a:ext cx="3566160" cy="50292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" y="1682495"/>
            <a:ext cx="32918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🤖  ChatGPT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" y="2212848"/>
            <a:ext cx="3291840" cy="1142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CC"/>
                </a:solidFill>
                <a:latin typeface="Calibri"/>
              </a:rPr>
              <a:t>General tasks, custom GPT bots, data analysis, and maximum versatility for everyday AI work.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1396" y="1572768"/>
            <a:ext cx="3566160" cy="1874519"/>
          </a:xfrm>
          <a:prstGeom prst="rect">
            <a:avLst/>
          </a:prstGeom>
          <a:solidFill>
            <a:srgbClr val="12122A"/>
          </a:solidFill>
          <a:ln w="1905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1396" y="1572768"/>
            <a:ext cx="3566160" cy="50292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48556" y="1682495"/>
            <a:ext cx="32918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✨  Gemini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8556" y="2212848"/>
            <a:ext cx="3291840" cy="1142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CC"/>
                </a:solidFill>
                <a:latin typeface="Calibri"/>
              </a:rPr>
              <a:t>Google Workspace users, real-time research, multimodal tasks, and ultra-long document processing.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70163" y="1572768"/>
            <a:ext cx="3566160" cy="1874519"/>
          </a:xfrm>
          <a:prstGeom prst="rect">
            <a:avLst/>
          </a:prstGeom>
          <a:solidFill>
            <a:srgbClr val="12122A"/>
          </a:solidFill>
          <a:ln w="19050">
            <a:solidFill>
              <a:srgbClr val="FFA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70163" y="1572768"/>
            <a:ext cx="3566160" cy="50292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07323" y="1682495"/>
            <a:ext cx="32918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🍌  Nano Banana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7323" y="2212848"/>
            <a:ext cx="3291840" cy="1142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CC"/>
                </a:solidFill>
                <a:latin typeface="Calibri"/>
              </a:rPr>
              <a:t>Professional visuals, marketing assets, consistent character design, and creative image content.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82012" y="3749039"/>
            <a:ext cx="3566160" cy="1874519"/>
          </a:xfrm>
          <a:prstGeom prst="rect">
            <a:avLst/>
          </a:prstGeom>
          <a:solidFill>
            <a:srgbClr val="12122A"/>
          </a:solidFill>
          <a:ln w="19050">
            <a:solidFill>
              <a:srgbClr val="CC7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382012" y="3749039"/>
            <a:ext cx="3566160" cy="50292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19172" y="3858768"/>
            <a:ext cx="32918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🔮  Claude Chat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9172" y="4389120"/>
            <a:ext cx="3291840" cy="1142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CC"/>
                </a:solidFill>
                <a:latin typeface="Calibri"/>
              </a:rPr>
              <a:t>Long documents, deep analysis, creative writing, complex reasoning, and safety-sensitive tasks.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40780" y="3749039"/>
            <a:ext cx="3566160" cy="1874519"/>
          </a:xfrm>
          <a:prstGeom prst="rect">
            <a:avLst/>
          </a:prstGeom>
          <a:solidFill>
            <a:srgbClr val="12122A"/>
          </a:solidFill>
          <a:ln w="1905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0780" y="3749039"/>
            <a:ext cx="3566160" cy="50292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7940" y="3858768"/>
            <a:ext cx="32918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📔  NotebookLM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4389120"/>
            <a:ext cx="3291840" cy="1142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CC"/>
                </a:solidFill>
                <a:latin typeface="Calibri"/>
              </a:rPr>
              <a:t>Research, studying, legal review, and any workflow where accuracy and citations are critical.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