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.openai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emini.google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istudio.google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ude.ai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otebooklm.google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AI Tools Showcase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974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BB"/>
                </a:solidFill>
                <a:latin typeface="Calibri"/>
              </a:rPr>
              <a:t>An interactive overview of the most powerful AI tools — what each one does best and how your team can use it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3211" y="3840480"/>
            <a:ext cx="2011680" cy="475488"/>
          </a:xfrm>
          <a:prstGeom prst="rect">
            <a:avLst/>
          </a:prstGeom>
          <a:solidFill>
            <a:srgbClr val="1A1A35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1" y="3895344"/>
            <a:ext cx="2011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0A37F"/>
                </a:solidFill>
                <a:latin typeface="Calibri"/>
              </a:rPr>
              <a:t>🤖  ChatGPT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0924" y="3840480"/>
            <a:ext cx="2011680" cy="475488"/>
          </a:xfrm>
          <a:prstGeom prst="rect">
            <a:avLst/>
          </a:prstGeom>
          <a:solidFill>
            <a:srgbClr val="1A1A35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0924" y="3895344"/>
            <a:ext cx="2011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4285F4"/>
                </a:solidFill>
                <a:latin typeface="Calibri"/>
              </a:rPr>
              <a:t>✨  Gemini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8636" y="3840480"/>
            <a:ext cx="2011680" cy="475488"/>
          </a:xfrm>
          <a:prstGeom prst="rect">
            <a:avLst/>
          </a:prstGeom>
          <a:solidFill>
            <a:srgbClr val="1A1A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8636" y="3895344"/>
            <a:ext cx="2011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🍌  Nano Banana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56348" y="3840480"/>
            <a:ext cx="2011680" cy="475488"/>
          </a:xfrm>
          <a:prstGeom prst="rect">
            <a:avLst/>
          </a:prstGeom>
          <a:solidFill>
            <a:srgbClr val="1A1A35"/>
          </a:solidFill>
          <a:ln w="1905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6348" y="3895344"/>
            <a:ext cx="2011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CC785C"/>
                </a:solidFill>
                <a:latin typeface="Calibri"/>
              </a:rPr>
              <a:t>🔮  Claude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4060" y="3840480"/>
            <a:ext cx="2011680" cy="475488"/>
          </a:xfrm>
          <a:prstGeom prst="rect">
            <a:avLst/>
          </a:prstGeom>
          <a:solidFill>
            <a:srgbClr val="1A1A35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4060" y="3895344"/>
            <a:ext cx="2011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EA4335"/>
                </a:solidFill>
                <a:latin typeface="Calibri"/>
              </a:rPr>
              <a:t>📔  NotebookLM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00800"/>
            <a:ext cx="121889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44466"/>
                </a:solidFill>
                <a:latin typeface="Calibri"/>
              </a:rPr>
              <a:t>Use  ←  → 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0" i="0">
                <a:solidFill>
                  <a:srgbClr val="1A1A2E"/>
                </a:solidFill>
                <a:latin typeface="Calibri"/>
              </a:rPr>
              <a:t>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7498079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10A37F"/>
                </a:solidFill>
                <a:latin typeface="Calibri"/>
              </a:rPr>
              <a:t>ChatGPT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2354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by OpenAI — The world's most popular AI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56032"/>
            <a:ext cx="2651760" cy="530352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hlinkClick r:id="rId2"/>
              </a:rPr>
              <a:t>Open ChatGPT 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44752"/>
            <a:ext cx="11786616" cy="2011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572768"/>
            <a:ext cx="3794760" cy="53035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664208"/>
            <a:ext cx="923544" cy="237744"/>
          </a:xfrm>
          <a:prstGeom prst="rect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682495"/>
            <a:ext cx="8503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0A37F"/>
                </a:solidFill>
                <a:latin typeface="Calibri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Keep all your AI work organized in persistent workspaces. Every project has its own memory, files, and custom instructions — ChatGPT always knows the context when you return.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0A37F"/>
                </a:solidFill>
                <a:latin typeface="Calibri"/>
              </a:rPr>
              <a:t>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Marketing project stores brand guidelines — every output automatically matches your brand tone without re-explaining.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Client X project holds all their background info — instant, accurate briefings with zero repetition.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572768"/>
            <a:ext cx="3794760" cy="53035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64208"/>
            <a:ext cx="1184148" cy="237744"/>
          </a:xfrm>
          <a:prstGeom prst="rect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682495"/>
            <a:ext cx="11109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0A37F"/>
                </a:solidFill>
                <a:latin typeface="Calibri"/>
              </a:rPr>
              <a:t>CUSTOM GPTS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Custom GPTs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Build a specialized AI for your team’s exact needs — no coding required. Describe what it should do, upload documents, and share it with your whole team in one link.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0A37F"/>
                </a:solidFill>
                <a:latin typeface="Calibri"/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An HR FAQ GPT answers staff questions using your actual internal policy document, 24/7.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Code Reviewer GPT flags issues against your team’s specific coding standards and style guide.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4" y="1572768"/>
            <a:ext cx="3794760" cy="53035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9328" y="1664208"/>
            <a:ext cx="1357884" cy="237744"/>
          </a:xfrm>
          <a:prstGeom prst="rect">
            <a:avLst/>
          </a:prstGeom>
          <a:solidFill>
            <a:srgbClr val="E2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682495"/>
            <a:ext cx="1284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0A37F"/>
                </a:solidFill>
                <a:latin typeface="Calibri"/>
              </a:rPr>
              <a:t>DATA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Data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Upload any spreadsheet or dataset and get instant charts, trends, and plain-English summaries. No formulas, no Python knowledge needed — just ask your question.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9328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10A37F"/>
                </a:solidFill>
                <a:latin typeface="Calibri"/>
              </a:rPr>
              <a:t>USE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Upload a sales CSV — "Which product grew most last quarter?" — instant bar chart + clear explanation.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Drop in survey results — key themes, sentiment analysis, and summary report generated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0" i="0">
                <a:solidFill>
                  <a:srgbClr val="1A1A2E"/>
                </a:solidFill>
                <a:latin typeface="Calibri"/>
              </a:rPr>
              <a:t>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7498079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4285F4"/>
                </a:solidFill>
                <a:latin typeface="Calibri"/>
              </a:rPr>
              <a:t>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2354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by Google — AI deeply integrated with Google’s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56032"/>
            <a:ext cx="2651760" cy="5303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hlinkClick r:id="rId2"/>
              </a:rPr>
              <a:t>Open Gemini 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44752"/>
            <a:ext cx="11786616" cy="2011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572768"/>
            <a:ext cx="3794760" cy="5303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664208"/>
            <a:ext cx="576072" cy="237744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682495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4285F4"/>
                </a:solidFill>
                <a:latin typeface="Calibri"/>
              </a:rPr>
              <a:t>GEMS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Gems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Create a personal AI expert tailored to your role and style. Gems hold your preferred instructions and expertise permanently — no need to re-explain every new session.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4285F4"/>
                </a:solidFill>
                <a:latin typeface="Calibri"/>
              </a:rPr>
              <a:t>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Meeting Notes Gem always structures output as bullet points with action items and owners — automatically.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Job Ad Writer Gem crafts descriptions in your company’s exact tone with all your required sections.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572768"/>
            <a:ext cx="3794760" cy="5303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64208"/>
            <a:ext cx="1357884" cy="237744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682495"/>
            <a:ext cx="1284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4285F4"/>
                </a:solidFill>
                <a:latin typeface="Calibri"/>
              </a:rPr>
              <a:t>DEEP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Deep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Get a full, cited research report on any topic in minutes — multiple sources, structured findings, and key takeaways. Replaces hours of manual browsing with a single prompt.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4285F4"/>
                </a:solidFill>
                <a:latin typeface="Calibri"/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"Analyze our top competitor’s pricing strategy" — structured report with cited sources in under 2 minutes.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Explore a new market — summary of key players, trends, and entry opportunities with references.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4" y="1572768"/>
            <a:ext cx="3794760" cy="5303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9328" y="1664208"/>
            <a:ext cx="1010412" cy="237744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682495"/>
            <a:ext cx="9372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4285F4"/>
                </a:solidFill>
                <a:latin typeface="Calibri"/>
              </a:rPr>
              <a:t>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Workspace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AI assistance right inside Gmail, Docs, and Sheets — no switching tabs, no copy-pasting. Gemini sees what you’re working on and helps you directly.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9328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4285F4"/>
                </a:solidFill>
                <a:latin typeface="Calibri"/>
              </a:rPr>
              <a:t>USE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In Gmail: select any email thread — Gemini drafts a professional reply in your exact tone.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In Google Sheets: highlight messy data — Gemini cleans, categorizes, and formats it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0" i="0">
                <a:solidFill>
                  <a:srgbClr val="1A1A2E"/>
                </a:solidFill>
                <a:latin typeface="Calibri"/>
              </a:rPr>
              <a:t>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7498079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59E0B"/>
                </a:solidFill>
                <a:latin typeface="Calibri"/>
              </a:rPr>
              <a:t>Nano Banana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2354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Powered by Gemini 3 Pro — Professional AI Image Generation via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56032"/>
            <a:ext cx="265176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hlinkClick r:id="rId2"/>
              </a:rPr>
              <a:t>Open Nano Banana 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44752"/>
            <a:ext cx="11786616" cy="2011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572768"/>
            <a:ext cx="3794760" cy="5303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664208"/>
            <a:ext cx="1357884" cy="237744"/>
          </a:xfrm>
          <a:prstGeom prst="rect">
            <a:avLst/>
          </a:prstGeom>
          <a:solidFill>
            <a:srgbClr val="FD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682495"/>
            <a:ext cx="1284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TEXT-TO-IMAGE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Text-to-Image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Turn a plain text description into a professional-quality image in seconds. No design software, no stock subscriptions, no designer needed — just describe what you want.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"Modern app screenshot for our pitch deck" — polished, presentation-ready image in 15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Generate custom blog illustrations or social media visuals without a designer or stock photo subscription.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572768"/>
            <a:ext cx="3794760" cy="5303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64208"/>
            <a:ext cx="1184148" cy="237744"/>
          </a:xfrm>
          <a:prstGeom prst="rect">
            <a:avLst/>
          </a:prstGeom>
          <a:solidFill>
            <a:srgbClr val="FD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682495"/>
            <a:ext cx="11109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Character 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Your brand mascot or guide character stays identical across all generated images — same face, same style. Essential for campaigns, product tutorials, and visual storytelling.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10 marketing images each showing your brand mascot in a different scenario — all perfectly consistent.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visual product tutorial with the same illustrated guide character across every single step.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4" y="1572768"/>
            <a:ext cx="3794760" cy="5303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9328" y="1664208"/>
            <a:ext cx="1444752" cy="237744"/>
          </a:xfrm>
          <a:prstGeom prst="rect">
            <a:avLst/>
          </a:prstGeom>
          <a:solidFill>
            <a:srgbClr val="FD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682495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ITERATIVE 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Iterative Editing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Refine an image through natural conversation — like having a designer who never gets tired of changes. No starting from scratch, no re-writing your entire prompt each 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9328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USE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Generate a hero image — "make the sky dramatic, add a city skyline" — done in one message.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Tweak a product visual through simple chat until it matches your exact vision — no re-prompting.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0" i="0">
                <a:solidFill>
                  <a:srgbClr val="1A1A2E"/>
                </a:solidFill>
                <a:latin typeface="Calibri"/>
              </a:rPr>
              <a:t>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7498079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CC785C"/>
                </a:solidFill>
                <a:latin typeface="Calibri"/>
              </a:rPr>
              <a:t>Claude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2354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by Anthropic — Thoughtful, nuanced AI for deep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56032"/>
            <a:ext cx="2651760" cy="53035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hlinkClick r:id="rId2"/>
              </a:rPr>
              <a:t>Open Claude Chat 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44752"/>
            <a:ext cx="11786616" cy="2011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572768"/>
            <a:ext cx="3794760" cy="53035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664208"/>
            <a:ext cx="923544" cy="237744"/>
          </a:xfrm>
          <a:prstGeom prst="rect">
            <a:avLst/>
          </a:prstGeom>
          <a:solidFill>
            <a:srgbClr val="F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682495"/>
            <a:ext cx="8503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C785C"/>
                </a:solidFill>
                <a:latin typeface="Calibri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Give Claude a permanent shared context for ongoing work. It knows your goals, files, and preferences every session — no re-explaining needed, ever.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C785C"/>
                </a:solidFill>
                <a:latin typeface="Calibri"/>
              </a:rPr>
              <a:t>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Contract Review project stores your legal standards — consistent, accurate review every single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 Content Calendar project knows your audience and brand voice — on-brand ideas available on demand.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572768"/>
            <a:ext cx="3794760" cy="53035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64208"/>
            <a:ext cx="1010412" cy="237744"/>
          </a:xfrm>
          <a:prstGeom prst="rect">
            <a:avLst/>
          </a:prstGeom>
          <a:solidFill>
            <a:srgbClr val="F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682495"/>
            <a:ext cx="9372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C785C"/>
                </a:solidFill>
                <a:latin typeface="Calibri"/>
              </a:rPr>
              <a:t>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Claude builds solutions live in the chat — not just describes them. Get working interactive apps, fully formatted documents, and live dashboards you can use immediately.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C785C"/>
                </a:solidFill>
                <a:latin typeface="Calibri"/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Ask for a ROI calculator — Claude builds a fully interactive web app in the chat window, ready to share.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Request a client proposal — formatted document, download-ready, editable in one click.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4" y="1572768"/>
            <a:ext cx="3794760" cy="53035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9328" y="1664208"/>
            <a:ext cx="1357884" cy="237744"/>
          </a:xfrm>
          <a:prstGeom prst="rect">
            <a:avLst/>
          </a:prstGeom>
          <a:solidFill>
            <a:srgbClr val="F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682495"/>
            <a:ext cx="12847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C785C"/>
                </a:solidFill>
                <a:latin typeface="Calibri"/>
              </a:rPr>
              <a:t>EXT. THINKING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Extended Thinking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For complex problems, Claude thinks step by step before answering — like a consultant who shows their full reasoning. You see exactly how it reached its conclusion.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9328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CC785C"/>
                </a:solidFill>
                <a:latin typeface="Calibri"/>
              </a:rPr>
              <a:t>USE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"Analyze this contract for risks" — detailed list of each risk with its likely impact, clearly explained.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Present a strategic decision — full breakdown of options, trade-offs, and recommendation with reasoning.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86868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0" i="0">
                <a:solidFill>
                  <a:srgbClr val="1A1A2E"/>
                </a:solidFill>
                <a:latin typeface="Calibri"/>
              </a:rPr>
              <a:t>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7498079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EA4335"/>
                </a:solidFill>
                <a:latin typeface="Calibri"/>
              </a:rPr>
              <a:t>NotebookLM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2354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  <a:latin typeface="Calibri"/>
              </a:rPr>
              <a:t>by Google — AI grounded 100% in YOUR documents. Zero hallucinations.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56032"/>
            <a:ext cx="2651760" cy="5303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hlinkClick r:id="rId2"/>
              </a:rPr>
              <a:t>Open NotebookLM 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44752"/>
            <a:ext cx="11786616" cy="20116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572768"/>
            <a:ext cx="3794760" cy="53035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664208"/>
            <a:ext cx="1444752" cy="23774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682495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A4335"/>
                </a:solidFill>
                <a:latin typeface="Calibri"/>
              </a:rPr>
              <a:t>AUDIO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Audio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Your team absorbs a 50-page report as a 10-minute podcast during their commute. One click converts any document into a listenable conversation between two AI hosts.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A4335"/>
                </a:solidFill>
                <a:latin typeface="Calibri"/>
              </a:rPr>
              <a:t>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Upload a market research report — share the audio briefing with your team before Monday’s meeting.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Turn a technical spec into a conversational audio summary for non-technical stakeholders.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97096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7096" y="1572768"/>
            <a:ext cx="3794760" cy="53035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64208"/>
            <a:ext cx="1271016" cy="23774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682495"/>
            <a:ext cx="11978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A4335"/>
                </a:solidFill>
                <a:latin typeface="Calibri"/>
              </a:rPr>
              <a:t>RESEARCH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Research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Ask any question and get a precise, cited answer drawn only from your own documents. Every response links to the exact source passage — zero hallucinations, zero guesswork.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A4335"/>
                </a:solidFill>
                <a:latin typeface="Calibri"/>
              </a:rPr>
              <a:t>USE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Upload all product manuals — "What’s the return policy for product X?" — exact quote + page reference.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Analyze research papers — "What do authors agree on regarding topic Y?" — with full citations.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1572768"/>
            <a:ext cx="3794760" cy="5102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3024" y="1572768"/>
            <a:ext cx="3794760" cy="53035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9328" y="1664208"/>
            <a:ext cx="1184148" cy="237744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682495"/>
            <a:ext cx="11109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A4335"/>
                </a:solidFill>
                <a:latin typeface="Calibri"/>
              </a:rPr>
              <a:t>STUDY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1993392"/>
            <a:ext cx="35021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Calibri"/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578608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Study Guide &amp; Mind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182112"/>
            <a:ext cx="3502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Convert any document into structured learning materials instantly — FAQs, key concepts, timelines, and visual mind maps — saving hours of manual summarization work.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9328" y="4681728"/>
            <a:ext cx="3502152" cy="16459"/>
          </a:xfrm>
          <a:prstGeom prst="rect">
            <a:avLst/>
          </a:prstGeom>
          <a:solidFill>
            <a:srgbClr val="EA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4754880"/>
            <a:ext cx="3502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A4335"/>
                </a:solidFill>
                <a:latin typeface="Calibri"/>
              </a:rPr>
              <a:t>USE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029200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Upload a 200-page training manual — structured guide with key concepts and self-test questions.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579729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77"/>
                </a:solidFill>
                <a:latin typeface="Calibri"/>
              </a:rPr>
              <a:t>›  Turn a strategic plan into a mind map of goals, initiatives, and dependencies for a team kickoff.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  <a:latin typeface="Calibri"/>
              </a:rPr>
              <a:t>Choose the Right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42415"/>
            <a:ext cx="9445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99"/>
                </a:solidFill>
                <a:latin typeface="Calibri"/>
              </a:rPr>
              <a:t>Each tool shines in different scenarios — use the best one for the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572768"/>
            <a:ext cx="35204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72768"/>
            <a:ext cx="3520440" cy="53035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7" y="1700784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🤖 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2231136"/>
            <a:ext cx="3246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  <a:latin typeface="Calibri"/>
              </a:rPr>
              <a:t>General tasks, custom GPT bots, rapid data analysis, and maximum versatility for day-to-day AI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5" y="1572768"/>
            <a:ext cx="35204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5" y="1572768"/>
            <a:ext cx="3520440" cy="5303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700784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✨ 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231136"/>
            <a:ext cx="3246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  <a:latin typeface="Calibri"/>
              </a:rPr>
              <a:t>Google Workspace users, deep research reports, and handling very long documents or multimodal inputs.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1572768"/>
            <a:ext cx="35204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47304" y="1572768"/>
            <a:ext cx="3520440" cy="5303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700784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🍌  Nano Banana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231136"/>
            <a:ext cx="3246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  <a:latin typeface="Calibri"/>
              </a:rPr>
              <a:t>Professional visuals, consistent brand imagery, marketing assets, and iterative creative image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7732" y="3749039"/>
            <a:ext cx="35204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27732" y="3749039"/>
            <a:ext cx="3520440" cy="53035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4892" y="3877055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🔮  Claude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4892" y="4407407"/>
            <a:ext cx="3246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  <a:latin typeface="Calibri"/>
              </a:rPr>
              <a:t>Deep analysis, long documents, live Artifacts, complex reasoning, and safety-sensitive conversations.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0780" y="3749039"/>
            <a:ext cx="35204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0780" y="3749039"/>
            <a:ext cx="3520440" cy="53035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3877055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📔  NotebookLM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4407407"/>
            <a:ext cx="3246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7"/>
                </a:solidFill>
                <a:latin typeface="Calibri"/>
              </a:rPr>
              <a:t>Research, legal review, team briefings, and any workflow where accuracy and source citations are critical.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