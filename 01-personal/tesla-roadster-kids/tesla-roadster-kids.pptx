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4" ContentType="video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פתיחה: שאלו את הילדים מה לדעתם מכונית צריכה כדי לקפוץ ולהסתובב באוויר.</a:t>
            </a:r>
          </a:p>
          <a:p/>
          <a:p>
            <a:r>
              <a:t>מקורות: https://www.cnn.com/2026/10/16/world/video/tesla-unveils-what-it-says-is-a-flying-car ; https://www.statesman.com/business/article/tesla-roadster-mcgregor-flying-car-musk-spacex-22480443.php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מקורות: https://www.cnn.com/2026/10/16/world/video/tesla-unveils-what-it-says-is-a-flying-car (קפיצה קצרה, לא טיסה ממושכת, לפי מומחה בתעופה), https://www.statesman.com/business/article/tesla-roadster-mcgregor-flying-car-musk-spacex-22480443.php (הרמפה והתהפכות).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מקורות: https://driveteslacanada.ca/news/tesla-roadster-unveiling-livestream-october-15-2026/ ; https://arynews.tv/tesla-to-unveil-long-delayed-roadster-on-october-1-musk-says (דחייה מ-1 באוקטובר בגלל מזג אוויר). הפרט 'חמישי' נלקח מאותם דיווחים: 15 באוקטובר 2026 חל ביום חמישי. מיקום: מתקן SpaceX ב-McGregor, טקסס.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מקורות לתפקידים: https://builtin.com/articles/elon-musk (סקירה כללית, לאמת). הדיווחים על תפקידיו העדכניים לא תואמים זה את זה, ולכן כדאי לאמת מול אתר טסלה ו-SpaceX לפני ההצגה. תמונה: יש להוסיף קובץ images/musk.jpg רק אחרי שבדקתם את הרישיון (למשל Wikimedia Commons), ולרשום את הקרדיט ב-images/CREDIT.txt.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הסרטון הוא אנימציה המבוססת על תיאורי ההדגמה, לא צילום שלה.</a:t>
            </a:r>
          </a:p>
          <a:p>
            <a:r>
              <a:t>מאווררים וגז קר: לפי טסלה, כמתואר ב-https://www.statesman.com/business/article/tesla-roadster-mcgregor-flying-car-musk-spacex-22480443.php ; https://aviationweek.com/aerospace/emerging-technologies/tesla-demos-flying-roadster-powered-spacex-cold-gas-thrusters .</a:t>
            </a:r>
          </a:p>
          <a:p>
            <a:r>
              <a:t>מספר הפתחים: מוסק דיבר על 10 פתחים, דיווח אחר על 4 מאחור ועוד 6 בגרסת Rocket. לכן לא פירטנו את המספר.</a:t>
            </a:r>
          </a:p>
          <a:p>
            <a:r>
              <a:t>זמן 0-60 של 0.81 שנייה הוא מספר של טסלה ו-Aviation Week. 'פחות משנייה' הוא של מוסק. אלה טענות של החברה, ולכן לא הופיעו בשקף.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הדעה בשקף היא דעה קבוצתית, לא של כל ילד בנפרד. יש לנסח אותה מחדש עם הקבוצה לפני ההצגה.</a:t>
            </a:r>
          </a:p>
          <a:p>
            <a:r>
              <a:t>הטענה 'מוביל חכם וחדשן' היא דעה. הטענה 'מביא פיתוחים לעולם' נתמכת במידה רבה על ידי המקורות על טסלה ו-SpaceX.</a:t>
            </a:r>
          </a:p>
          <a:p>
            <a:r>
              <a:t>טסלה לא הייתה הרכב החשמלי הראשון, ולכן לא כתבנו שהיא הראשונה. הטענה 'עשיר מאוד' הוסרה כי לא אומתה במקור.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קישורים: https://www.cnn.com/2026/10/16/world/video/tesla-unveils-what-it-says-is-a-flying-car (סרטון), https://www.i24news.tv/he/news/science-and-technology/artc-28d73fdd (כתבה בעברית). כתבה נוספת בעברית: https://www.ice.co.il/auto/news/article/1133858 . לפני ההצגה, פתחו את הקישורים ובדקו שהם עדיין פעילים. הסרטון לא מוטמע כי הוא חומר מוגן זכויות.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שאלה 6 מבקשת להציג את האירוע בכל דרך. בשקף הזה הצגנו: סרטון, תמונה, שיר קצר ושאלה לדיון.</a:t>
            </a:r>
          </a:p>
          <a:p>
            <a:r>
              <a:t>השיר נכתב לשקף הזה, ואינו מבוסס על חומר מוגן זכויות. ניתן לשנות אותו לפי הרצון.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nn.com/2026/10/16/world/video/tesla-unveils-what-it-says-is-a-flying-car" TargetMode="External"/><Relationship Id="rId3" Type="http://schemas.openxmlformats.org/officeDocument/2006/relationships/hyperlink" Target="https://www.i24news.tv/he/news/science-and-technology/artc-28d73fdd" TargetMode="Externa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65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5000" b="1" lang="he-IL" altLang="en-US">
                <a:solidFill>
                  <a:srgbClr val="171A20"/>
                </a:solidFill>
                <a:latin typeface="Arial"/>
              </a:rPr>
              <a:t>טסלה רודסטר: הרכב שקפץ באוויר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865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3000" b="0" lang="he-IL" altLang="en-US">
                <a:solidFill>
                  <a:srgbClr val="5C5E62"/>
                </a:solidFill>
                <a:latin typeface="Arial"/>
              </a:rPr>
              <a:t>ההדגמה מ-15 באוקטובר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7286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3000" b="1" lang="he-IL" altLang="en-US">
                <a:solidFill>
                  <a:srgbClr val="E82127"/>
                </a:solidFill>
                <a:latin typeface="Arial"/>
              </a:rPr>
              <a:t>האם מכונית יכולה לטפס על רמפה, להסתובב באוויר ולנחות על הגלגלים?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72865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000" b="0" lang="he-IL" altLang="en-US">
                <a:solidFill>
                  <a:srgbClr val="171A20"/>
                </a:solidFill>
                <a:latin typeface="Arial"/>
              </a:rPr>
              <a:t>מצגת לכיתה ו׳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מה קרה?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600" b="0" lang="he-IL" altLang="en-US">
                <a:solidFill>
                  <a:srgbClr val="171A20"/>
                </a:solidFill>
                <a:latin typeface="Arial"/>
              </a:rPr>
              <a:t>טסלה חשפה את הדור החדש של הרודסטר, מכונית ספורט חשמלית.</a:t>
            </a:r>
          </a:p>
          <a:p>
            <a:pPr algn="r" rtl="1">
              <a:spcAft>
                <a:spcPts val="1000"/>
              </a:spcAft>
            </a:pPr>
            <a:r>
              <a:rPr sz="2600" b="0" lang="he-IL" altLang="en-US">
                <a:solidFill>
                  <a:srgbClr val="171A20"/>
                </a:solidFill>
                <a:latin typeface="Arial"/>
              </a:rPr>
              <a:t>הרכב נסע במעלה רמפה מעוגלת, התהפך עם הגג כלפי מטה, קפץ מקצה הרמפה והסתובב באוויר.</a:t>
            </a:r>
          </a:p>
          <a:p>
            <a:pPr algn="r" rtl="1">
              <a:spcAft>
                <a:spcPts val="1000"/>
              </a:spcAft>
            </a:pPr>
            <a:r>
              <a:rPr sz="2600" b="0" lang="he-IL" altLang="en-US">
                <a:solidFill>
                  <a:srgbClr val="171A20"/>
                </a:solidFill>
                <a:latin typeface="Arial"/>
              </a:rPr>
              <a:t>הוא נחת על הגלגלים. לפי הדיווחים, זו הייתה קפיצה קצרה ולא טיסה ממושכת.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מתי ואיפה?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15 באוקטובר 2026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ההדגמה התקיימה ביום חמישי, אחרי דחייה מ-1 באוקטובר בגלל מזג אוויר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2860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olded Corner 5"/>
          <p:cNvSpPr/>
          <p:nvPr/>
        </p:nvSpPr>
        <p:spPr>
          <a:xfrm>
            <a:off x="966978" y="2430018"/>
            <a:ext cx="352044" cy="352044"/>
          </a:xfrm>
          <a:prstGeom prst="foldedCorner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2103120"/>
          </a:xfrm>
          <a:prstGeom prst="roundRect">
            <a:avLst>
              <a:gd name="adj" fmla="val 12000"/>
            </a:avLst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מקגרגור, טקסס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במתקן הבדיקות של SpaceX, חברה שמאסק מנהל גם היא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228600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ardrop 8"/>
          <p:cNvSpPr/>
          <p:nvPr/>
        </p:nvSpPr>
        <p:spPr>
          <a:xfrm>
            <a:off x="6636258" y="2430018"/>
            <a:ext cx="352044" cy="352044"/>
          </a:xfrm>
          <a:prstGeom prst="teardrop">
            <a:avLst/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6984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 lang="he-IL" altLang="en-US">
                <a:solidFill>
                  <a:srgbClr val="5C5E62"/>
                </a:solidFill>
                <a:latin typeface="Arial"/>
              </a:rPr>
              <a:t>שימו לב: המועד והמיקום מבוססים על דיווחי חדשות. לפני ההצגה, בדקו את הפרטים בכתבה המקורית.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מי מעורב?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66160" cy="2194560"/>
          </a:xfrm>
          <a:prstGeom prst="roundRect">
            <a:avLst>
              <a:gd name="adj" fmla="val 12000"/>
            </a:avLst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טסלה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יצרנית הרכב. הרודסטר הוא רכב ספורט חשמלי שלה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554480"/>
            <a:ext cx="3566160" cy="2194560"/>
          </a:xfrm>
          <a:prstGeom prst="roundRect">
            <a:avLst>
              <a:gd name="adj" fmla="val 12000"/>
            </a:avLst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SpaceX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פיתחה יחד עם טסלה את סילוני הגז הקרים לדחף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554480"/>
            <a:ext cx="3566160" cy="2194560"/>
          </a:xfrm>
          <a:prstGeom prst="roundRect">
            <a:avLst>
              <a:gd name="adj" fmla="val 12000"/>
            </a:avLst>
          </a:prstGeom>
          <a:solidFill>
            <a:srgbClr val="5C5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אילון מאסק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מוביל את טסלה ואת SpaceX לפי הדיווחים. אנשים רבים רואים בו מוביל חדשנות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2926080" cy="2377440"/>
          </a:xfrm>
          <a:prstGeom prst="rect">
            <a:avLst/>
          </a:prstGeom>
          <a:solidFill>
            <a:srgbClr val="FFFFFF"/>
          </a:solidFill>
          <a:ln>
            <a:solidFill>
              <a:srgbClr val="5C5E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 rtl="1"/>
            <a:r>
              <a:rPr sz="1600" b="0" lang="he-IL" altLang="en-US">
                <a:solidFill>
                  <a:srgbClr val="5C5E62"/>
                </a:solidFill>
                <a:latin typeface="Arial"/>
              </a:rPr>
              <a:t>כאן תוצב תמונה של אילון מאסק מרישיון פתוח, עם קרדיט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114800"/>
            <a:ext cx="77724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400" b="0" lang="he-IL" altLang="en-US">
                <a:solidFill>
                  <a:srgbClr val="171A20"/>
                </a:solidFill>
                <a:latin typeface="Arial"/>
              </a:rPr>
              <a:t>מאסק הוא הדמות המרכזית בטסלה וב-SpaceX, ומכאן הקשר בין שתי החברות בהדגמה.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איך זה עובד?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4754880" cy="1188720"/>
          </a:xfrm>
          <a:prstGeom prst="roundRect">
            <a:avLst>
              <a:gd name="adj" fmla="val 12000"/>
            </a:avLst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מאווררים מתחת לרכב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יניקה שמחזיקה את הרכב על הרמפה, לפי טסלה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926080"/>
            <a:ext cx="4754880" cy="1188720"/>
          </a:xfrm>
          <a:prstGeom prst="roundRect">
            <a:avLst>
              <a:gd name="adj" fmla="val 12000"/>
            </a:avLst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סילוני גז קרים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דחיפה קטנה שעוזרת לקפוץ ולהסתובב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297680"/>
            <a:ext cx="4754880" cy="1188720"/>
          </a:xfrm>
          <a:prstGeom prst="roundRect">
            <a:avLst>
              <a:gd name="adj" fmla="val 12000"/>
            </a:avLst>
          </a:prstGeom>
          <a:solidFill>
            <a:srgbClr val="5C5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עדיין לא מפורט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מספר הסילונים מדווח שונה בין מקורות</a:t>
            </a:r>
          </a:p>
        </p:txBody>
      </p:sp>
      <p:pic>
        <p:nvPicPr>
          <p:cNvPr id="7" name="roadster-demo-animation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0" y="1554480"/>
            <a:ext cx="5760720" cy="324040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52160" y="4932044"/>
            <a:ext cx="5760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1800" b="0" lang="he-IL" altLang="en-US">
                <a:solidFill>
                  <a:srgbClr val="5C5E62"/>
                </a:solidFill>
                <a:latin typeface="Arial"/>
              </a:rPr>
              <a:t>אנימציה שממחישה את ההדגמה. לא צילום מקורי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למה זה חשוב, ומה אנחנו חושבים?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400" b="0" lang="he-IL" altLang="en-US">
                <a:solidFill>
                  <a:srgbClr val="171A20"/>
                </a:solidFill>
                <a:latin typeface="Arial"/>
              </a:rPr>
              <a:t>למה זה חשוב? ההדגמה מראה איך חברות משתפות פעולה כדי לנסות דברים שלא נעשו לפני, גם כשזה נראה מסוכן.</a:t>
            </a:r>
          </a:p>
          <a:p>
            <a:pPr algn="r" rtl="1">
              <a:spcAft>
                <a:spcPts val="1000"/>
              </a:spcAft>
            </a:pPr>
            <a:r>
              <a:rPr sz="2400" b="0" lang="he-IL" altLang="en-US">
                <a:solidFill>
                  <a:srgbClr val="171A20"/>
                </a:solidFill>
                <a:latin typeface="Arial"/>
              </a:rPr>
              <a:t>מה אנחנו חושבים? אילון מאסק הוא מוביל חכם וחדשן, שמביא פיתוחים חדשים לעולם, כולל רכב חשמלי. אבל ההדגמה מראה שהחלום לרכב שמתעופף עדיין רחוק מהמוצר שאפשר לקנות.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12000"/>
            </a:avLst>
          </a:prstGeom>
          <a:solidFill>
            <a:srgbClr val="A81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שאלה לדיון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מה דעתכם? האם חדשנות צריכה להיות מהירה, או בטוחה ומדויקת?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הסרטון והכתבה בעברית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הסרטון כפי שפורסם באתר חדשות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CNN. לחצו על הקישור לצפייה בסרטון הרשמי של ההדגמה, לא מוטמע כאן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lang="he-IL" altLang="en-US">
                <a:solidFill>
                  <a:srgbClr val="B01A20"/>
                </a:solidFill>
                <a:latin typeface="Arial"/>
                <a:hlinkClick r:id="rId2"/>
              </a:rPr>
              <a:t>לצפייה בסרטון ב-CNN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63040"/>
            <a:ext cx="5394960" cy="2377440"/>
          </a:xfrm>
          <a:prstGeom prst="roundRect">
            <a:avLst>
              <a:gd name="adj" fmla="val 12000"/>
            </a:avLst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כתבה בעברית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i24NEWS: הכתבה מתארת את ההדגמה ואת טענות מאסק על התמרונים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329184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lang="he-IL" altLang="en-US">
                <a:solidFill>
                  <a:srgbClr val="B01A20"/>
                </a:solidFill>
                <a:latin typeface="Arial"/>
                <a:hlinkClick r:id="rId3"/>
              </a:rPr>
              <a:t>לקריאת הכתבה ב-i24NEWS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1064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0" lang="he-IL" altLang="en-US">
                <a:solidFill>
                  <a:srgbClr val="171A20"/>
                </a:solidFill>
                <a:latin typeface="Arial"/>
              </a:rPr>
              <a:t>מה הכתבה אומרת, במילים שלנו: טסלה חשפה את הדור החדש של הרודסטר. מאסק טען שהרכב יכול להתרומם ולבצע תמרונים. ההדגמה נערכה במתקן של SpaceX בטקסס, לא הוצגה טיסה ממושכת, ולא נמסר תאריך מסירה ללקוחות.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4000" b="1" lang="he-IL" altLang="en-US">
                <a:solidFill>
                  <a:srgbClr val="171A20"/>
                </a:solidFill>
                <a:latin typeface="Arial"/>
              </a:rPr>
              <a:t>הסיפור בכל דרך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סרטון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האנימציה בשקף 5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194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966978" y="2338578"/>
            <a:ext cx="352044" cy="352044"/>
          </a:xfrm>
          <a:prstGeom prst="triangle">
            <a:avLst/>
          </a:prstGeom>
          <a:solidFill>
            <a:srgbClr val="E8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46304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תמונה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תמונת מאסק בשקף 4</a:t>
            </a:r>
          </a:p>
        </p:txBody>
      </p:sp>
      <p:sp>
        <p:nvSpPr>
          <p:cNvPr id="8" name="Oval 7"/>
          <p:cNvSpPr/>
          <p:nvPr/>
        </p:nvSpPr>
        <p:spPr>
          <a:xfrm>
            <a:off x="3657600" y="2194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ame 8"/>
          <p:cNvSpPr/>
          <p:nvPr/>
        </p:nvSpPr>
        <p:spPr>
          <a:xfrm>
            <a:off x="3801618" y="2338578"/>
            <a:ext cx="352044" cy="352044"/>
          </a:xfrm>
          <a:prstGeom prst="frame">
            <a:avLst/>
          </a:prstGeom>
          <a:solidFill>
            <a:srgbClr val="17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5C5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שיר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מילים בצד ימין</a:t>
            </a:r>
          </a:p>
        </p:txBody>
      </p:sp>
      <p:sp>
        <p:nvSpPr>
          <p:cNvPr id="11" name="Oval 10"/>
          <p:cNvSpPr/>
          <p:nvPr/>
        </p:nvSpPr>
        <p:spPr>
          <a:xfrm>
            <a:off x="6492240" y="2194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Wave 11"/>
          <p:cNvSpPr/>
          <p:nvPr/>
        </p:nvSpPr>
        <p:spPr>
          <a:xfrm>
            <a:off x="6636258" y="2338578"/>
            <a:ext cx="352044" cy="352044"/>
          </a:xfrm>
          <a:prstGeom prst="wave">
            <a:avLst/>
          </a:prstGeom>
          <a:solidFill>
            <a:srgbClr val="5C5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463040"/>
            <a:ext cx="2651760" cy="2103120"/>
          </a:xfrm>
          <a:prstGeom prst="roundRect">
            <a:avLst>
              <a:gd name="adj" fmla="val 12000"/>
            </a:avLst>
          </a:prstGeom>
          <a:solidFill>
            <a:srgbClr val="A81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43000" rIns="228600"/>
          <a:lstStyle/>
          <a:p>
            <a:pPr algn="r" rtl="1"/>
            <a:r>
              <a:rPr sz="2600" b="1" lang="he-IL" altLang="en-US">
                <a:solidFill>
                  <a:srgbClr val="FFFFFF"/>
                </a:solidFill>
                <a:latin typeface="Arial"/>
              </a:rPr>
              <a:t>שאלה</a:t>
            </a:r>
          </a:p>
          <a:p>
            <a:pPr algn="r" rtl="1"/>
            <a:r>
              <a:rPr sz="2000" b="0" lang="he-IL" altLang="en-US">
                <a:solidFill>
                  <a:srgbClr val="FFFFFF"/>
                </a:solidFill>
                <a:latin typeface="Arial"/>
              </a:rPr>
              <a:t>שאלה לדיון למטה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0" y="2194560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nut 14"/>
          <p:cNvSpPr/>
          <p:nvPr/>
        </p:nvSpPr>
        <p:spPr>
          <a:xfrm>
            <a:off x="9470898" y="2338578"/>
            <a:ext cx="352044" cy="352044"/>
          </a:xfrm>
          <a:prstGeom prst="donut">
            <a:avLst/>
          </a:prstGeom>
          <a:solidFill>
            <a:srgbClr val="A810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840480"/>
            <a:ext cx="32918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200" b="1" lang="he-IL" altLang="en-US">
                <a:solidFill>
                  <a:srgbClr val="171A20"/>
                </a:solidFill>
                <a:latin typeface="Arial"/>
              </a:rPr>
              <a:t>רכב אדום עולה על הרמפה,</a:t>
            </a:r>
          </a:p>
          <a:p>
            <a:pPr algn="r" rtl="1">
              <a:spcAft>
                <a:spcPts val="1000"/>
              </a:spcAft>
            </a:pPr>
            <a:r>
              <a:rPr sz="2200" b="1" lang="he-IL" altLang="en-US">
                <a:solidFill>
                  <a:srgbClr val="171A20"/>
                </a:solidFill>
                <a:latin typeface="Arial"/>
              </a:rPr>
              <a:t>מסתובב באוויר וחוזר לארץ.</a:t>
            </a:r>
          </a:p>
          <a:p>
            <a:pPr algn="r" rtl="1">
              <a:spcAft>
                <a:spcPts val="1000"/>
              </a:spcAft>
            </a:pPr>
            <a:r>
              <a:rPr sz="2200" b="1" lang="he-IL" altLang="en-US">
                <a:solidFill>
                  <a:srgbClr val="171A20"/>
                </a:solidFill>
                <a:latin typeface="Arial"/>
              </a:rPr>
              <a:t>טסלה וחלל חולמים יחד,</a:t>
            </a:r>
          </a:p>
          <a:p>
            <a:pPr algn="r" rtl="1">
              <a:spcAft>
                <a:spcPts val="1000"/>
              </a:spcAft>
            </a:pPr>
            <a:r>
              <a:rPr sz="2200" b="1" lang="he-IL" altLang="en-US">
                <a:solidFill>
                  <a:srgbClr val="171A20"/>
                </a:solidFill>
                <a:latin typeface="Arial"/>
              </a:rPr>
              <a:t>וכל ניסיון מלמד משהו חדש.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931920"/>
            <a:ext cx="74980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1000"/>
              </a:spcAft>
            </a:pPr>
            <a:r>
              <a:rPr sz="2400" b="0" lang="he-IL" altLang="en-US">
                <a:solidFill>
                  <a:srgbClr val="171A20"/>
                </a:solidFill>
                <a:latin typeface="Arial"/>
              </a:rPr>
              <a:t>שיר קצר, מילים מקוריות של הכיתה. שירו את הבית על המנגינה שאתם אוהבים.</a:t>
            </a:r>
          </a:p>
          <a:p>
            <a:pPr algn="r" rtl="1">
              <a:spcAft>
                <a:spcPts val="1000"/>
              </a:spcAft>
            </a:pPr>
            <a:r>
              <a:rPr sz="2400" b="0" lang="he-IL" altLang="en-US">
                <a:solidFill>
                  <a:srgbClr val="171A20"/>
                </a:solidFill>
                <a:latin typeface="Arial"/>
              </a:rPr>
              <a:t>שאלה לדיון: מה הייתם שואלים את מאסק אם הייתם פוגשים אותו?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