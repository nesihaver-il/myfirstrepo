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4" ContentType="video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פתיחה: שאלו את הילדים מה לדעתם יכולה לעשות רקטה שחוזרת לכדור הארץ.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הערה למציג: הגובה והעוצמה של הרקטה משתנים בין גרסאות וטיסות. לפני ההצגה, בדקו את המספרים העדכניים באתר SpaceX (spacex.com) ובדפי הטיסות של Starship. אין לי אישור עדכני למספרים מדויקים.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הציגו את הסרטון (כ-36 שניות). אחרי הסרטון: מה הילדים ראו? שאלו מה היה קורה אם הטיסה הראשונה הייתה מצליחה מיד.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הסבירו בשפה פשוטה: מתאן הוא גז שמשמש גם כדלק, וחמצן נוזלי הוא החמצן שנותן לדלק לבעור. הזרועות תופסות את הבוסטר בדומה לאיך שמיישרים כביסה על חבל. הפרטים הטכניים משתנים בין גרסאות - בדקו לפני ההצגה.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סיום: תנו לכל ילד לענות בקצרה. אפשר לחלק כרטיסי כתיבה ולאסוף את התשובות לשיעור הבא.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FF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5400" b="1" lang="he-IL" altLang="en-US">
                <a:solidFill>
                  <a:srgbClr val="1B3A6B"/>
                </a:solidFill>
                <a:latin typeface="Arial"/>
              </a:rPr>
              <a:t>Starship: הרקטה שחוזרת הביתה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72865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lang="he-IL" altLang="en-US">
                <a:solidFill>
                  <a:srgbClr val="FF8C28"/>
                </a:solidFill>
                <a:latin typeface="Arial"/>
              </a:rPr>
              <a:t>איך נראית רקטה שאפשר להשתמש בה שוב ושוב?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72865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lang="he-IL" altLang="en-US">
                <a:solidFill>
                  <a:srgbClr val="222233"/>
                </a:solidFill>
                <a:latin typeface="Arial"/>
              </a:rPr>
              <a:t>מצגת לכיתה ו׳  |  על SpaceX ועל Starship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4000" b="1" lang="he-IL" altLang="en-US">
                <a:solidFill>
                  <a:srgbClr val="1B3A6B"/>
                </a:solidFill>
                <a:latin typeface="Arial"/>
              </a:rPr>
              <a:t>מה זה Starship?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600" b="0" lang="he-IL" altLang="en-US">
                <a:solidFill>
                  <a:srgbClr val="222233"/>
                </a:solidFill>
                <a:latin typeface="Arial"/>
              </a:rPr>
              <a:t>Starship היא רקטה ענקית שפותחה על ידי SpaceX.</a:t>
            </a:r>
          </a:p>
          <a:p>
            <a:pPr algn="r" rtl="1">
              <a:spcAft>
                <a:spcPts val="1000"/>
              </a:spcAft>
            </a:pPr>
            <a:r>
              <a:rPr sz="2600" b="0" lang="he-IL" altLang="en-US">
                <a:solidFill>
                  <a:srgbClr val="222233"/>
                </a:solidFill>
                <a:latin typeface="Arial"/>
              </a:rPr>
              <a:t>היא בנויה משני חלקים: הבוסטר (המאיץ) שדוחף אותה בהתחלה, והחללית שממשיכה לחלל.</a:t>
            </a:r>
          </a:p>
          <a:p>
            <a:pPr algn="r" rtl="1">
              <a:spcAft>
                <a:spcPts val="1000"/>
              </a:spcAft>
            </a:pPr>
            <a:r>
              <a:rPr sz="2600" b="0" lang="he-IL" altLang="en-US">
                <a:solidFill>
                  <a:srgbClr val="222233"/>
                </a:solidFill>
                <a:latin typeface="Arial"/>
              </a:rPr>
              <a:t>המטרה: לקחת אנשים ומטענים לחלל, ולחזור ולטוס שוב ושוב.</a:t>
            </a:r>
          </a:p>
          <a:p>
            <a:pPr algn="r" rtl="1">
              <a:spcAft>
                <a:spcPts val="1000"/>
              </a:spcAft>
            </a:pPr>
            <a:r>
              <a:rPr sz="2600" b="0" lang="he-IL" altLang="en-US">
                <a:solidFill>
                  <a:srgbClr val="222233"/>
                </a:solidFill>
                <a:latin typeface="Arial"/>
              </a:rPr>
              <a:t>היא אחת הרקטות הגדולות והחזקות שנבנו אי פעם.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4000" b="1" lang="he-IL" altLang="en-US">
                <a:solidFill>
                  <a:srgbClr val="1B3A6B"/>
                </a:solidFill>
                <a:latin typeface="Arial"/>
              </a:rPr>
              <a:t>איך בונים רקטה כזאת?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4754880" cy="1188720"/>
          </a:xfrm>
          <a:prstGeom prst="roundRect">
            <a:avLst>
              <a:gd name="adj" fmla="val 12000"/>
            </a:avLst>
          </a:prstGeom>
          <a:solidFill>
            <a:srgbClr val="FF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/>
            <a:r>
              <a:rPr sz="2600" b="1" lang="he-IL" altLang="en-US">
                <a:solidFill>
                  <a:srgbClr val="FFFFFF"/>
                </a:solidFill>
                <a:latin typeface="Arial"/>
              </a:rPr>
              <a:t>1. בונים אב-טיפוס</a:t>
            </a:r>
          </a:p>
          <a:p>
            <a:pPr algn="r" rtl="1"/>
            <a:r>
              <a:rPr sz="2000" b="0" lang="he-IL" altLang="en-US">
                <a:solidFill>
                  <a:srgbClr val="FFFFFF"/>
                </a:solidFill>
                <a:latin typeface="Arial"/>
              </a:rPr>
              <a:t>מתחילים בגרסה קטנה וניסיונית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926080"/>
            <a:ext cx="4754880" cy="1188720"/>
          </a:xfrm>
          <a:prstGeom prst="roundRect">
            <a:avLst>
              <a:gd name="adj" fmla="val 12000"/>
            </a:avLst>
          </a:prstGeom>
          <a:solidFill>
            <a:srgbClr val="3BA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/>
            <a:r>
              <a:rPr sz="2600" b="1" lang="he-IL" altLang="en-US">
                <a:solidFill>
                  <a:srgbClr val="FFFFFF"/>
                </a:solidFill>
                <a:latin typeface="Arial"/>
              </a:rPr>
              <a:t>2. טסים ולומדים</a:t>
            </a:r>
          </a:p>
          <a:p>
            <a:pPr algn="r" rtl="1"/>
            <a:r>
              <a:rPr sz="2000" b="0" lang="he-IL" altLang="en-US">
                <a:solidFill>
                  <a:srgbClr val="FFFFFF"/>
                </a:solidFill>
                <a:latin typeface="Arial"/>
              </a:rPr>
              <a:t>כל טיסת ניסוי נותנת מידע חדש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97680"/>
            <a:ext cx="4754880" cy="1188720"/>
          </a:xfrm>
          <a:prstGeom prst="roundRect">
            <a:avLst>
              <a:gd name="adj" fmla="val 12000"/>
            </a:avLst>
          </a:prstGeom>
          <a:solidFill>
            <a:srgbClr val="E8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/>
            <a:r>
              <a:rPr sz="2600" b="1" lang="he-IL" altLang="en-US">
                <a:solidFill>
                  <a:srgbClr val="FFFFFF"/>
                </a:solidFill>
                <a:latin typeface="Arial"/>
              </a:rPr>
              <a:t>3. נכשלים? זה חלק מהדרך</a:t>
            </a:r>
          </a:p>
          <a:p>
            <a:pPr algn="r" rtl="1"/>
            <a:r>
              <a:rPr sz="2000" b="0" lang="he-IL" altLang="en-US">
                <a:solidFill>
                  <a:srgbClr val="FFFFFF"/>
                </a:solidFill>
                <a:latin typeface="Arial"/>
              </a:rPr>
              <a:t>כשלון הוא שיעור, לא סוף</a:t>
            </a:r>
          </a:p>
        </p:txBody>
      </p:sp>
      <p:pic>
        <p:nvPicPr>
          <p:cNvPr id="6" name="starship-anim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52160" y="1554480"/>
            <a:ext cx="5760720" cy="32404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52160" y="4932044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800" b="0" lang="he-IL" altLang="en-US">
                <a:solidFill>
                  <a:srgbClr val="222233"/>
                </a:solidFill>
                <a:latin typeface="Arial"/>
              </a:rPr>
              <a:t>סרטון קצר: הרקטה עולה לחלל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4000" b="1" lang="he-IL" altLang="en-US">
                <a:solidFill>
                  <a:srgbClr val="1B3A6B"/>
                </a:solidFill>
                <a:latin typeface="Arial"/>
              </a:rPr>
              <a:t>איך זה עובד?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5394960" cy="2011680"/>
          </a:xfrm>
          <a:prstGeom prst="roundRect">
            <a:avLst>
              <a:gd name="adj" fmla="val 12000"/>
            </a:avLst>
          </a:prstGeom>
          <a:solidFill>
            <a:srgbClr val="FF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/>
            <a:r>
              <a:rPr sz="2600" b="1" lang="he-IL" altLang="en-US">
                <a:solidFill>
                  <a:srgbClr val="FFFFFF"/>
                </a:solidFill>
                <a:latin typeface="Arial"/>
              </a:rPr>
              <a:t>מנועי Raptor</a:t>
            </a:r>
          </a:p>
          <a:p>
            <a:pPr algn="r" rtl="1"/>
            <a:r>
              <a:rPr sz="2000" b="0" lang="he-IL" altLang="en-US">
                <a:solidFill>
                  <a:srgbClr val="FFFFFF"/>
                </a:solidFill>
                <a:latin typeface="Arial"/>
              </a:rPr>
              <a:t>שורפים מתאן וחמצן נוזלי כדי לייצר דחף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554480"/>
            <a:ext cx="5394960" cy="2011680"/>
          </a:xfrm>
          <a:prstGeom prst="roundRect">
            <a:avLst>
              <a:gd name="adj" fmla="val 12000"/>
            </a:avLst>
          </a:prstGeom>
          <a:solidFill>
            <a:srgbClr val="3BA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/>
            <a:r>
              <a:rPr sz="2600" b="1" lang="he-IL" altLang="en-US">
                <a:solidFill>
                  <a:srgbClr val="FFFFFF"/>
                </a:solidFill>
                <a:latin typeface="Arial"/>
              </a:rPr>
              <a:t>גוף מפלדה</a:t>
            </a:r>
          </a:p>
          <a:p>
            <a:pPr algn="r" rtl="1"/>
            <a:r>
              <a:rPr sz="2000" b="0" lang="he-IL" altLang="en-US">
                <a:solidFill>
                  <a:srgbClr val="FFFFFF"/>
                </a:solidFill>
                <a:latin typeface="Arial"/>
              </a:rPr>
              <a:t>פלדה עמידה לחום, וחזקה יחסית למשקל שלה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840480"/>
            <a:ext cx="5394960" cy="2011680"/>
          </a:xfrm>
          <a:prstGeom prst="roundRect">
            <a:avLst>
              <a:gd name="adj" fmla="val 12000"/>
            </a:avLst>
          </a:prstGeom>
          <a:solidFill>
            <a:srgbClr val="E8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/>
            <a:r>
              <a:rPr sz="2600" b="1" lang="he-IL" altLang="en-US">
                <a:solidFill>
                  <a:srgbClr val="FFFFFF"/>
                </a:solidFill>
                <a:latin typeface="Arial"/>
              </a:rPr>
              <a:t>שימוש חוזר</a:t>
            </a:r>
          </a:p>
          <a:p>
            <a:pPr algn="r" rtl="1"/>
            <a:r>
              <a:rPr sz="2000" b="0" lang="he-IL" altLang="en-US">
                <a:solidFill>
                  <a:srgbClr val="FFFFFF"/>
                </a:solidFill>
                <a:latin typeface="Arial"/>
              </a:rPr>
              <a:t>הבוסטר חוזר ונתפס באוויר, במקום להישרף בים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840480"/>
            <a:ext cx="5394960" cy="2011680"/>
          </a:xfrm>
          <a:prstGeom prst="roundRect">
            <a:avLst>
              <a:gd name="adj" fmla="val 12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/>
            <a:r>
              <a:rPr sz="2600" b="1" lang="he-IL" altLang="en-US">
                <a:solidFill>
                  <a:srgbClr val="FFFFFF"/>
                </a:solidFill>
                <a:latin typeface="Arial"/>
              </a:rPr>
              <a:t>תפיסה בזרועות</a:t>
            </a:r>
          </a:p>
          <a:p>
            <a:pPr algn="r" rtl="1"/>
            <a:r>
              <a:rPr sz="2000" b="0" lang="he-IL" altLang="en-US">
                <a:solidFill>
                  <a:srgbClr val="FFFFFF"/>
                </a:solidFill>
                <a:latin typeface="Arial"/>
              </a:rPr>
              <a:t>מגדל השיגור תופס את הבוסטר עם זרועות ענק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4000" b="1" lang="he-IL" altLang="en-US">
                <a:solidFill>
                  <a:srgbClr val="1B3A6B"/>
                </a:solidFill>
                <a:latin typeface="Arial"/>
              </a:rPr>
              <a:t>גם אתם יכולים להמריא!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3566160" cy="2194560"/>
          </a:xfrm>
          <a:prstGeom prst="roundRect">
            <a:avLst>
              <a:gd name="adj" fmla="val 12000"/>
            </a:avLst>
          </a:prstGeom>
          <a:solidFill>
            <a:srgbClr val="FF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/>
            <a:r>
              <a:rPr sz="2600" b="1" lang="he-IL" altLang="en-US">
                <a:solidFill>
                  <a:srgbClr val="FFFFFF"/>
                </a:solidFill>
                <a:latin typeface="Arial"/>
              </a:rPr>
              <a:t>שאלו שאלות</a:t>
            </a:r>
          </a:p>
          <a:p>
            <a:pPr algn="r" rtl="1"/>
            <a:r>
              <a:rPr sz="2000" b="0" lang="he-IL" altLang="en-US">
                <a:solidFill>
                  <a:srgbClr val="FFFFFF"/>
                </a:solidFill>
                <a:latin typeface="Arial"/>
              </a:rPr>
              <a:t>כל שאלה טובה, גם אם נראית קטנה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79" y="1554480"/>
            <a:ext cx="3566160" cy="2194560"/>
          </a:xfrm>
          <a:prstGeom prst="roundRect">
            <a:avLst>
              <a:gd name="adj" fmla="val 12000"/>
            </a:avLst>
          </a:prstGeom>
          <a:solidFill>
            <a:srgbClr val="3BA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/>
            <a:r>
              <a:rPr sz="2600" b="1" lang="he-IL" altLang="en-US">
                <a:solidFill>
                  <a:srgbClr val="FFFFFF"/>
                </a:solidFill>
                <a:latin typeface="Arial"/>
              </a:rPr>
              <a:t>אל תפחדו לטעות</a:t>
            </a:r>
          </a:p>
          <a:p>
            <a:pPr algn="r" rtl="1"/>
            <a:r>
              <a:rPr sz="2000" b="0" lang="he-IL" altLang="en-US">
                <a:solidFill>
                  <a:srgbClr val="FFFFFF"/>
                </a:solidFill>
                <a:latin typeface="Arial"/>
              </a:rPr>
              <a:t>גם מהנדסי SpaceX למדו מניסיונות שנכשלו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8" y="1554480"/>
            <a:ext cx="3566160" cy="2194560"/>
          </a:xfrm>
          <a:prstGeom prst="roundRect">
            <a:avLst>
              <a:gd name="adj" fmla="val 12000"/>
            </a:avLst>
          </a:prstGeom>
          <a:solidFill>
            <a:srgbClr val="E8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/>
            <a:r>
              <a:rPr sz="2600" b="1" lang="he-IL" altLang="en-US">
                <a:solidFill>
                  <a:srgbClr val="FFFFFF"/>
                </a:solidFill>
                <a:latin typeface="Arial"/>
              </a:rPr>
              <a:t>חלמו בגדול, תכננו צעד צעד</a:t>
            </a:r>
          </a:p>
          <a:p>
            <a:pPr algn="r" rtl="1"/>
            <a:r>
              <a:rPr sz="2000" b="0" lang="he-IL" altLang="en-US">
                <a:solidFill>
                  <a:srgbClr val="FFFFFF"/>
                </a:solidFill>
                <a:latin typeface="Arial"/>
              </a:rPr>
              <a:t>חלום גדול מתחיל מצעד קטן אחד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206240"/>
            <a:ext cx="11094415" cy="1737360"/>
          </a:xfrm>
          <a:prstGeom prst="roundRect">
            <a:avLst>
              <a:gd name="adj" fmla="val 1200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/>
            <a:r>
              <a:rPr sz="2600" b="1" lang="he-IL" altLang="en-US">
                <a:solidFill>
                  <a:srgbClr val="222233"/>
                </a:solidFill>
                <a:latin typeface="Arial"/>
              </a:rPr>
              <a:t>שאלה לדיון</a:t>
            </a:r>
          </a:p>
          <a:p>
            <a:pPr algn="r" rtl="1"/>
            <a:r>
              <a:rPr sz="2000" b="0" lang="he-IL" altLang="en-US">
                <a:solidFill>
                  <a:srgbClr val="222233"/>
                </a:solidFill>
                <a:latin typeface="Arial"/>
              </a:rPr>
              <a:t>אם הייתם בונים רקטה, מה הייתם רוצים שתעשה?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